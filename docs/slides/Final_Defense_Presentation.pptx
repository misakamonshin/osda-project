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9" r:id="rId5"/>
    <p:sldId id="262" r:id="rId6"/>
    <p:sldId id="263" r:id="rId7"/>
    <p:sldId id="264" r:id="rId8"/>
    <p:sldId id="265" r:id="rId9"/>
    <p:sldId id="266" r:id="rId10"/>
    <p:sldId id="267" r:id="rId11"/>
    <p:sldId id="269" r:id="rId12"/>
    <p:sldId id="270" r:id="rId13"/>
    <p:sldId id="280" r:id="rId24"/>
    <p:sldId id="281" r:id="rId25"/>
    <p:sldId id="272" r:id="rId14"/>
    <p:sldId id="275" r:id="rId15"/>
    <p:sldId id="276" r:id="rId16"/>
    <p:sldId id="277" r:id="rId17"/>
    <p:sldId id="278" r:id="rId18"/>
    <p:sldId id="279" r:id="rId19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2" userDrawn="1">
          <p15:clr>
            <a:srgbClr val="A4A3A4"/>
          </p15:clr>
        </p15:guide>
        <p15:guide id="2" pos="385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2"/>
        <p:guide pos="38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ableStyles" Target="tableStyles.xml"/><Relationship Id="rId23" Type="http://schemas.openxmlformats.org/officeDocument/2006/relationships/tags" Target="tags/tag56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重点强调：同Epoch下我们的AUROC是最高的，这说明在相同条件下我们的方法最优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强调专利已受理—这是大创项目最有力的佐证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用激光笔指着架构图逐模块讲解：ConvNeXt提取特征→GRL域对齐→解耦分支→VAE→四源融合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Relationship Id="rId7" Type="http://schemas.openxmlformats.org/officeDocument/2006/relationships/tags" Target="../tags/tag6.xml"/><Relationship Id="rId8" Type="http://schemas.openxmlformats.org/officeDocument/2006/relationships/tags" Target="../tags/tag7.xml"/><Relationship Id="rId9" Type="http://schemas.openxmlformats.org/officeDocument/2006/relationships/tags" Target="../tags/tag8.xml"/><Relationship Id="rId10" Type="http://schemas.openxmlformats.org/officeDocument/2006/relationships/tags" Target="../tags/tag9.xml"/><Relationship Id="rId11" Type="http://schemas.openxmlformats.org/officeDocument/2006/relationships/tags" Target="../tags/tag10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Relationship Id="rId7" Type="http://schemas.openxmlformats.org/officeDocument/2006/relationships/tags" Target="../tags/tag16.xml"/><Relationship Id="rId8" Type="http://schemas.openxmlformats.org/officeDocument/2006/relationships/tags" Target="../tags/tag17.xml"/><Relationship Id="rId9" Type="http://schemas.openxmlformats.org/officeDocument/2006/relationships/tags" Target="../tags/tag18.xml"/><Relationship Id="rId10" Type="http://schemas.openxmlformats.org/officeDocument/2006/relationships/tags" Target="../tags/tag19.xml"/><Relationship Id="rId11" Type="http://schemas.openxmlformats.org/officeDocument/2006/relationships/tags" Target="../tags/tag20.xml"/><Relationship Id="rId12" Type="http://schemas.openxmlformats.org/officeDocument/2006/relationships/tags" Target="../tags/tag21.xml"/><Relationship Id="rId13" Type="http://schemas.openxmlformats.org/officeDocument/2006/relationships/tags" Target="../tags/tag22.xml"/><Relationship Id="rId14" Type="http://schemas.openxmlformats.org/officeDocument/2006/relationships/tags" Target="../tags/tag2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4.xml"/><Relationship Id="rId3" Type="http://schemas.openxmlformats.org/officeDocument/2006/relationships/tags" Target="../tags/tag25.xml"/><Relationship Id="rId4" Type="http://schemas.openxmlformats.org/officeDocument/2006/relationships/tags" Target="../tags/tag26.xml"/><Relationship Id="rId5" Type="http://schemas.openxmlformats.org/officeDocument/2006/relationships/tags" Target="../tags/tag27.xml"/><Relationship Id="rId6" Type="http://schemas.openxmlformats.org/officeDocument/2006/relationships/tags" Target="../tags/tag28.xml"/><Relationship Id="rId7" Type="http://schemas.openxmlformats.org/officeDocument/2006/relationships/tags" Target="../tags/tag29.xml"/><Relationship Id="rId8" Type="http://schemas.openxmlformats.org/officeDocument/2006/relationships/tags" Target="../tags/tag3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行文本_3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装饰  6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1524000"/>
            <a:ext cx="10972800" cy="1473200"/>
          </a:xfrm>
          <a:custGeom>
            <a:avLst/>
            <a:gdLst>
              <a:gd name="connisteX0" fmla="*/ 0 w 10972800"/>
              <a:gd name="connsiteY0" fmla="*/ 203200 h 1473200"/>
              <a:gd name="connisteX1" fmla="*/ 203200 w 10972800"/>
              <a:gd name="connsiteY1" fmla="*/ 0 h 1473200"/>
              <a:gd name="connisteX2" fmla="*/ 10769600 w 10972800"/>
              <a:gd name="connsiteY2" fmla="*/ 0 h 1473200"/>
              <a:gd name="connisteX3" fmla="*/ 10972800 w 10972800"/>
              <a:gd name="connsiteY3" fmla="*/ 203200 h 1473200"/>
              <a:gd name="connisteX4" fmla="*/ 10972800 w 10972800"/>
              <a:gd name="connsiteY4" fmla="*/ 1270000 h 1473200"/>
              <a:gd name="connisteX5" fmla="*/ 10769600 w 10972800"/>
              <a:gd name="connsiteY5" fmla="*/ 1473200 h 1473200"/>
              <a:gd name="connisteX6" fmla="*/ 203200 w 10972800"/>
              <a:gd name="connsiteY6" fmla="*/ 1473200 h 1473200"/>
              <a:gd name="connisteX7" fmla="*/ 0 w 10972800"/>
              <a:gd name="connsiteY7" fmla="*/ 1270000 h 1473200"/>
              <a:gd name="connisteX8" fmla="*/ 0 w 10972800"/>
              <a:gd name="connsiteY8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270000"/>
                </a:lnTo>
                <a:cubicBezTo>
                  <a:pt x="10972800" y="1382224"/>
                  <a:pt x="10881824" y="1473200"/>
                  <a:pt x="107696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933450" y="1892300"/>
            <a:ext cx="876300" cy="736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2082800" y="1955800"/>
            <a:ext cx="9194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装饰  9"/>
          <p:cNvSpPr>
            <a:spLocks noGrp="1"/>
          </p:cNvSpPr>
          <p:nvPr>
            <p:ph type="body" idx="16393" hasCustomPrompt="1"/>
            <p:custDataLst>
              <p:tags r:id="rId6"/>
            </p:custDataLst>
          </p:nvPr>
        </p:nvSpPr>
        <p:spPr>
          <a:xfrm>
            <a:off x="609600" y="3149600"/>
            <a:ext cx="10972800" cy="1473200"/>
          </a:xfrm>
          <a:custGeom>
            <a:avLst/>
            <a:gdLst>
              <a:gd name="connisteX0" fmla="*/ 0 w 10972800"/>
              <a:gd name="connsiteY0" fmla="*/ 203200 h 1473200"/>
              <a:gd name="connisteX1" fmla="*/ 203200 w 10972800"/>
              <a:gd name="connsiteY1" fmla="*/ 0 h 1473200"/>
              <a:gd name="connisteX2" fmla="*/ 10769600 w 10972800"/>
              <a:gd name="connsiteY2" fmla="*/ 0 h 1473200"/>
              <a:gd name="connisteX3" fmla="*/ 10972800 w 10972800"/>
              <a:gd name="connsiteY3" fmla="*/ 203200 h 1473200"/>
              <a:gd name="connisteX4" fmla="*/ 10972800 w 10972800"/>
              <a:gd name="connsiteY4" fmla="*/ 1270000 h 1473200"/>
              <a:gd name="connisteX5" fmla="*/ 10769600 w 10972800"/>
              <a:gd name="connsiteY5" fmla="*/ 1473200 h 1473200"/>
              <a:gd name="connisteX6" fmla="*/ 203200 w 10972800"/>
              <a:gd name="connsiteY6" fmla="*/ 1473200 h 1473200"/>
              <a:gd name="connisteX7" fmla="*/ 0 w 10972800"/>
              <a:gd name="connsiteY7" fmla="*/ 1270000 h 1473200"/>
              <a:gd name="connisteX8" fmla="*/ 0 w 10972800"/>
              <a:gd name="connsiteY8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270000"/>
                </a:lnTo>
                <a:cubicBezTo>
                  <a:pt x="10972800" y="1382224"/>
                  <a:pt x="10881824" y="1473200"/>
                  <a:pt x="107696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933450" y="3517900"/>
            <a:ext cx="876300" cy="736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2082800" y="3581400"/>
            <a:ext cx="9194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4" hasCustomPrompt="1"/>
            <p:custDataLst>
              <p:tags r:id="rId9"/>
            </p:custDataLst>
          </p:nvPr>
        </p:nvSpPr>
        <p:spPr>
          <a:xfrm>
            <a:off x="609600" y="4775200"/>
            <a:ext cx="10972800" cy="1473200"/>
          </a:xfrm>
          <a:custGeom>
            <a:avLst/>
            <a:gdLst>
              <a:gd name="connisteX0" fmla="*/ 0 w 10972800"/>
              <a:gd name="connsiteY0" fmla="*/ 203200 h 1473200"/>
              <a:gd name="connisteX1" fmla="*/ 203200 w 10972800"/>
              <a:gd name="connsiteY1" fmla="*/ 0 h 1473200"/>
              <a:gd name="connisteX2" fmla="*/ 10769600 w 10972800"/>
              <a:gd name="connsiteY2" fmla="*/ 0 h 1473200"/>
              <a:gd name="connisteX3" fmla="*/ 10972800 w 10972800"/>
              <a:gd name="connsiteY3" fmla="*/ 203200 h 1473200"/>
              <a:gd name="connisteX4" fmla="*/ 10972800 w 10972800"/>
              <a:gd name="connsiteY4" fmla="*/ 1270000 h 1473200"/>
              <a:gd name="connisteX5" fmla="*/ 10769600 w 10972800"/>
              <a:gd name="connsiteY5" fmla="*/ 1473200 h 1473200"/>
              <a:gd name="connisteX6" fmla="*/ 203200 w 10972800"/>
              <a:gd name="connsiteY6" fmla="*/ 1473200 h 1473200"/>
              <a:gd name="connisteX7" fmla="*/ 0 w 10972800"/>
              <a:gd name="connsiteY7" fmla="*/ 1270000 h 1473200"/>
              <a:gd name="connisteX8" fmla="*/ 0 w 10972800"/>
              <a:gd name="connsiteY8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270000"/>
                </a:lnTo>
                <a:cubicBezTo>
                  <a:pt x="10972800" y="1382224"/>
                  <a:pt x="10881824" y="1473200"/>
                  <a:pt x="107696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 hasCustomPrompt="1"/>
            <p:custDataLst>
              <p:tags r:id="rId10"/>
            </p:custDataLst>
          </p:nvPr>
        </p:nvSpPr>
        <p:spPr>
          <a:xfrm>
            <a:off x="933450" y="5143500"/>
            <a:ext cx="876300" cy="736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2082800" y="5207000"/>
            <a:ext cx="9194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行文本_4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装饰  6"/>
          <p:cNvSpPr>
            <a:spLocks noGrp="1"/>
          </p:cNvSpPr>
          <p:nvPr>
            <p:ph type="body" idx="16394" hasCustomPrompt="1"/>
            <p:custDataLst>
              <p:tags r:id="rId3"/>
            </p:custDataLst>
          </p:nvPr>
        </p:nvSpPr>
        <p:spPr>
          <a:xfrm>
            <a:off x="609600" y="15240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933450" y="1955800"/>
            <a:ext cx="876300" cy="736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2082800" y="1866900"/>
            <a:ext cx="3556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装饰  9"/>
          <p:cNvSpPr>
            <a:spLocks noGrp="1"/>
          </p:cNvSpPr>
          <p:nvPr>
            <p:ph type="body" idx="16395" hasCustomPrompt="1"/>
            <p:custDataLst>
              <p:tags r:id="rId6"/>
            </p:custDataLst>
          </p:nvPr>
        </p:nvSpPr>
        <p:spPr>
          <a:xfrm>
            <a:off x="6248400" y="15240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6572250" y="1955800"/>
            <a:ext cx="876300" cy="736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7721600" y="1866900"/>
            <a:ext cx="3556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6" hasCustomPrompt="1"/>
            <p:custDataLst>
              <p:tags r:id="rId9"/>
            </p:custDataLst>
          </p:nvPr>
        </p:nvSpPr>
        <p:spPr>
          <a:xfrm>
            <a:off x="609600" y="40386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 hasCustomPrompt="1"/>
            <p:custDataLst>
              <p:tags r:id="rId10"/>
            </p:custDataLst>
          </p:nvPr>
        </p:nvSpPr>
        <p:spPr>
          <a:xfrm>
            <a:off x="933450" y="4470400"/>
            <a:ext cx="876300" cy="736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2082800" y="4381500"/>
            <a:ext cx="3556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7" hasCustomPrompt="1"/>
            <p:custDataLst>
              <p:tags r:id="rId12"/>
            </p:custDataLst>
          </p:nvPr>
        </p:nvSpPr>
        <p:spPr>
          <a:xfrm>
            <a:off x="6248400" y="40386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3" hasCustomPrompt="1"/>
            <p:custDataLst>
              <p:tags r:id="rId13"/>
            </p:custDataLst>
          </p:nvPr>
        </p:nvSpPr>
        <p:spPr>
          <a:xfrm>
            <a:off x="6572250" y="4470400"/>
            <a:ext cx="876300" cy="736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2" hasCustomPrompt="1"/>
            <p:custDataLst>
              <p:tags r:id="rId14"/>
            </p:custDataLst>
          </p:nvPr>
        </p:nvSpPr>
        <p:spPr>
          <a:xfrm>
            <a:off x="7721600" y="4381500"/>
            <a:ext cx="3556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列上文下内容_3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89" hasCustomPrompt="1"/>
            <p:custDataLst>
              <p:tags r:id="rId3"/>
            </p:custDataLst>
          </p:nvPr>
        </p:nvSpPr>
        <p:spPr>
          <a:xfrm>
            <a:off x="609600" y="2743200"/>
            <a:ext cx="3454400" cy="3505200"/>
          </a:xfrm>
          <a:custGeom>
            <a:avLst/>
            <a:gdLst>
              <a:gd name="connisteX0" fmla="*/ 0 w 3454400"/>
              <a:gd name="connsiteY0" fmla="*/ 203200 h 3505200"/>
              <a:gd name="connisteX1" fmla="*/ 203200 w 3454400"/>
              <a:gd name="connsiteY1" fmla="*/ 0 h 3505200"/>
              <a:gd name="connisteX2" fmla="*/ 3251200 w 3454400"/>
              <a:gd name="connsiteY2" fmla="*/ 0 h 3505200"/>
              <a:gd name="connisteX3" fmla="*/ 3454400 w 3454400"/>
              <a:gd name="connsiteY3" fmla="*/ 203200 h 3505200"/>
              <a:gd name="connisteX4" fmla="*/ 3454400 w 3454400"/>
              <a:gd name="connsiteY4" fmla="*/ 3302000 h 3505200"/>
              <a:gd name="connisteX5" fmla="*/ 3251200 w 3454400"/>
              <a:gd name="connsiteY5" fmla="*/ 3505200 h 3505200"/>
              <a:gd name="connisteX6" fmla="*/ 203200 w 3454400"/>
              <a:gd name="connsiteY6" fmla="*/ 3505200 h 3505200"/>
              <a:gd name="connisteX7" fmla="*/ 0 w 3454400"/>
              <a:gd name="connsiteY7" fmla="*/ 3302000 h 3505200"/>
              <a:gd name="connisteX8" fmla="*/ 0 w 3454400"/>
              <a:gd name="connsiteY8" fmla="*/ 203200 h 3505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50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302000"/>
                </a:lnTo>
                <a:cubicBezTo>
                  <a:pt x="3454400" y="3414224"/>
                  <a:pt x="3363424" y="3505200"/>
                  <a:pt x="3251200" y="3505200"/>
                </a:cubicBezTo>
                <a:lnTo>
                  <a:pt x="203200" y="3505200"/>
                </a:lnTo>
                <a:cubicBezTo>
                  <a:pt x="90976" y="3505200"/>
                  <a:pt x="0" y="3414224"/>
                  <a:pt x="0" y="3302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1524000"/>
            <a:ext cx="3454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9" name="内容占位符 8"/>
          <p:cNvSpPr>
            <a:spLocks noGrp="1"/>
          </p:cNvSpPr>
          <p:nvPr>
            <p:ph idx="16390" hasCustomPrompt="1"/>
            <p:custDataLst>
              <p:tags r:id="rId5"/>
            </p:custDataLst>
          </p:nvPr>
        </p:nvSpPr>
        <p:spPr>
          <a:xfrm>
            <a:off x="4368800" y="2743200"/>
            <a:ext cx="3454400" cy="3505200"/>
          </a:xfrm>
          <a:custGeom>
            <a:avLst/>
            <a:gdLst>
              <a:gd name="connisteX0" fmla="*/ 0 w 3454400"/>
              <a:gd name="connsiteY0" fmla="*/ 203200 h 3505200"/>
              <a:gd name="connisteX1" fmla="*/ 203200 w 3454400"/>
              <a:gd name="connsiteY1" fmla="*/ 0 h 3505200"/>
              <a:gd name="connisteX2" fmla="*/ 3251200 w 3454400"/>
              <a:gd name="connsiteY2" fmla="*/ 0 h 3505200"/>
              <a:gd name="connisteX3" fmla="*/ 3454400 w 3454400"/>
              <a:gd name="connsiteY3" fmla="*/ 203200 h 3505200"/>
              <a:gd name="connisteX4" fmla="*/ 3454400 w 3454400"/>
              <a:gd name="connsiteY4" fmla="*/ 3302000 h 3505200"/>
              <a:gd name="connisteX5" fmla="*/ 3251200 w 3454400"/>
              <a:gd name="connsiteY5" fmla="*/ 3505200 h 3505200"/>
              <a:gd name="connisteX6" fmla="*/ 203200 w 3454400"/>
              <a:gd name="connsiteY6" fmla="*/ 3505200 h 3505200"/>
              <a:gd name="connisteX7" fmla="*/ 0 w 3454400"/>
              <a:gd name="connsiteY7" fmla="*/ 3302000 h 3505200"/>
              <a:gd name="connisteX8" fmla="*/ 0 w 3454400"/>
              <a:gd name="connsiteY8" fmla="*/ 203200 h 3505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50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302000"/>
                </a:lnTo>
                <a:cubicBezTo>
                  <a:pt x="3454400" y="3414224"/>
                  <a:pt x="3363424" y="3505200"/>
                  <a:pt x="3251200" y="3505200"/>
                </a:cubicBezTo>
                <a:lnTo>
                  <a:pt x="203200" y="3505200"/>
                </a:lnTo>
                <a:cubicBezTo>
                  <a:pt x="90976" y="3505200"/>
                  <a:pt x="0" y="3414224"/>
                  <a:pt x="0" y="3302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4368800" y="1524000"/>
            <a:ext cx="3454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1" name="内容占位符 10"/>
          <p:cNvSpPr>
            <a:spLocks noGrp="1"/>
          </p:cNvSpPr>
          <p:nvPr>
            <p:ph idx="16391" hasCustomPrompt="1"/>
            <p:custDataLst>
              <p:tags r:id="rId7"/>
            </p:custDataLst>
          </p:nvPr>
        </p:nvSpPr>
        <p:spPr>
          <a:xfrm>
            <a:off x="8128000" y="2743200"/>
            <a:ext cx="3454400" cy="3505200"/>
          </a:xfrm>
          <a:custGeom>
            <a:avLst/>
            <a:gdLst>
              <a:gd name="connisteX0" fmla="*/ 0 w 3454400"/>
              <a:gd name="connsiteY0" fmla="*/ 203200 h 3505200"/>
              <a:gd name="connisteX1" fmla="*/ 203200 w 3454400"/>
              <a:gd name="connsiteY1" fmla="*/ 0 h 3505200"/>
              <a:gd name="connisteX2" fmla="*/ 3251200 w 3454400"/>
              <a:gd name="connsiteY2" fmla="*/ 0 h 3505200"/>
              <a:gd name="connisteX3" fmla="*/ 3454400 w 3454400"/>
              <a:gd name="connsiteY3" fmla="*/ 203200 h 3505200"/>
              <a:gd name="connisteX4" fmla="*/ 3454400 w 3454400"/>
              <a:gd name="connsiteY4" fmla="*/ 3302000 h 3505200"/>
              <a:gd name="connisteX5" fmla="*/ 3251200 w 3454400"/>
              <a:gd name="connsiteY5" fmla="*/ 3505200 h 3505200"/>
              <a:gd name="connisteX6" fmla="*/ 203200 w 3454400"/>
              <a:gd name="connsiteY6" fmla="*/ 3505200 h 3505200"/>
              <a:gd name="connisteX7" fmla="*/ 0 w 3454400"/>
              <a:gd name="connsiteY7" fmla="*/ 3302000 h 3505200"/>
              <a:gd name="connisteX8" fmla="*/ 0 w 3454400"/>
              <a:gd name="connsiteY8" fmla="*/ 203200 h 3505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50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302000"/>
                </a:lnTo>
                <a:cubicBezTo>
                  <a:pt x="3454400" y="3414224"/>
                  <a:pt x="3363424" y="3505200"/>
                  <a:pt x="3251200" y="3505200"/>
                </a:cubicBezTo>
                <a:lnTo>
                  <a:pt x="203200" y="3505200"/>
                </a:lnTo>
                <a:cubicBezTo>
                  <a:pt x="90976" y="3505200"/>
                  <a:pt x="0" y="3414224"/>
                  <a:pt x="0" y="3302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8128000" y="1524000"/>
            <a:ext cx="3454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10.xml"/><Relationship Id="rId6" Type="http://schemas.openxmlformats.org/officeDocument/2006/relationships/slide" Target="slide19.xml"/><Relationship Id="rId7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tags" Target="../tags/tag31.xml"/><Relationship Id="rId3" Type="http://schemas.openxmlformats.org/officeDocument/2006/relationships/tags" Target="../tags/tag32.xml"/><Relationship Id="rId4" Type="http://schemas.openxmlformats.org/officeDocument/2006/relationships/tags" Target="../tags/tag33.xml"/><Relationship Id="rId5" Type="http://schemas.openxmlformats.org/officeDocument/2006/relationships/tags" Target="../tags/tag34.xml"/><Relationship Id="rId6" Type="http://schemas.openxmlformats.org/officeDocument/2006/relationships/tags" Target="../tags/tag35.xml"/><Relationship Id="rId7" Type="http://schemas.openxmlformats.org/officeDocument/2006/relationships/tags" Target="../tags/tag36.xml"/><Relationship Id="rId8" Type="http://schemas.openxmlformats.org/officeDocument/2006/relationships/tags" Target="../tags/tag37.xml"/><Relationship Id="rId9" Type="http://schemas.openxmlformats.org/officeDocument/2006/relationships/tags" Target="../tags/tag38.xml"/><Relationship Id="rId10" Type="http://schemas.openxmlformats.org/officeDocument/2006/relationships/tags" Target="../tags/tag39.xml"/><Relationship Id="rId11" Type="http://schemas.openxmlformats.org/officeDocument/2006/relationships/tags" Target="../tags/tag40.xml"/><Relationship Id="rId12" Type="http://schemas.openxmlformats.org/officeDocument/2006/relationships/tags" Target="../tags/tag41.xml"/><Relationship Id="rId13" Type="http://schemas.openxmlformats.org/officeDocument/2006/relationships/tags" Target="../tags/tag42.xml"/><Relationship Id="rId14" Type="http://schemas.openxmlformats.org/officeDocument/2006/relationships/tags" Target="../tags/tag43.xml"/><Relationship Id="rId15" Type="http://schemas.openxmlformats.org/officeDocument/2006/relationships/tags" Target="../tags/tag44.xml"/><Relationship Id="rId16" Type="http://schemas.openxmlformats.org/officeDocument/2006/relationships/slideLayout" Target="../slideLayouts/slideLayout1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tags" Target="../tags/tag45.xml"/><Relationship Id="rId3" Type="http://schemas.openxmlformats.org/officeDocument/2006/relationships/tags" Target="../tags/tag46.xml"/><Relationship Id="rId4" Type="http://schemas.openxmlformats.org/officeDocument/2006/relationships/tags" Target="../tags/tag47.xml"/><Relationship Id="rId5" Type="http://schemas.openxmlformats.org/officeDocument/2006/relationships/tags" Target="../tags/tag48.xml"/><Relationship Id="rId6" Type="http://schemas.openxmlformats.org/officeDocument/2006/relationships/tags" Target="../tags/tag49.xml"/><Relationship Id="rId7" Type="http://schemas.openxmlformats.org/officeDocument/2006/relationships/tags" Target="../tags/tag50.xml"/><Relationship Id="rId8" Type="http://schemas.openxmlformats.org/officeDocument/2006/relationships/tags" Target="../tags/tag51.xml"/><Relationship Id="rId9" Type="http://schemas.openxmlformats.org/officeDocument/2006/relationships/tags" Target="../tags/tag52.xml"/><Relationship Id="rId10" Type="http://schemas.openxmlformats.org/officeDocument/2006/relationships/tags" Target="../tags/tag53.xml"/><Relationship Id="rId11" Type="http://schemas.openxmlformats.org/officeDocument/2006/relationships/tags" Target="../tags/tag54.xml"/><Relationship Id="rId12" Type="http://schemas.openxmlformats.org/officeDocument/2006/relationships/slideLayout" Target="../slideLayouts/slideLayou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tags" Target="../tags/tag55.xml"/><Relationship Id="rId3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11.jpe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24155" y="936625"/>
            <a:ext cx="11743690" cy="2387600"/>
          </a:xfrm>
        </p:spPr>
        <p:txBody>
          <a:bodyPr/>
          <a:p>
            <a:r>
              <a:rPr lang="zh-CN" altLang="en-US" sz="4400"/>
              <a:t>基于特征解耦与数据重构的开放集域适应方法</a:t>
            </a:r>
            <a:endParaRPr lang="zh-CN" altLang="en-US" sz="440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 sz="3600"/>
              <a:t>结题项目报告</a:t>
            </a:r>
            <a:endParaRPr lang="zh-CN" altLang="en-US" sz="3600"/>
          </a:p>
        </p:txBody>
      </p:sp>
      <p:sp>
        <p:nvSpPr>
          <p:cNvPr id="6" name="文本框 5"/>
          <p:cNvSpPr txBox="1"/>
          <p:nvPr/>
        </p:nvSpPr>
        <p:spPr>
          <a:xfrm>
            <a:off x="4352925" y="4443095"/>
            <a:ext cx="3485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/>
              <a:t>汇报人：林伟风</a:t>
            </a:r>
            <a:endParaRPr lang="zh-CN" altLang="en-US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hlinkClick r:id="rId2" action="ppaction://hlinksldjump"/>
              </a:rPr>
              <a:t>一、项目背景与意义</a:t>
            </a:r>
            <a:endParaRPr lang="zh-CN" altLang="en-US"/>
          </a:p>
          <a:p>
            <a:r>
              <a:rPr lang="zh-CN" altLang="en-US">
                <a:hlinkClick r:id="rId3" action="ppaction://hlinksldjump"/>
              </a:rPr>
              <a:t>二、核心问题与挑战</a:t>
            </a:r>
            <a:endParaRPr lang="zh-CN" altLang="en-US"/>
          </a:p>
          <a:p>
            <a:r>
              <a:rPr lang="zh-CN" altLang="en-US">
                <a:hlinkClick r:id="rId4" action="ppaction://hlinksldjump"/>
              </a:rPr>
              <a:t>三、解决方案与创新</a:t>
            </a:r>
            <a:endParaRPr lang="zh-CN" altLang="en-US"/>
          </a:p>
          <a:p>
            <a:r>
              <a:rPr lang="zh-CN" altLang="en-US">
                <a:hlinkClick r:id="rId5" action="ppaction://hlinksldjump"/>
              </a:rPr>
              <a:t>四、实验设计与评估</a:t>
            </a:r>
            <a:endParaRPr lang="zh-CN" altLang="en-US"/>
          </a:p>
          <a:p>
            <a:r>
              <a:rPr lang="zh-CN" altLang="en-US">
                <a:hlinkClick r:id="rId6" action="ppaction://hlinksldjump"/>
              </a:rPr>
              <a:t>五、项目成果与总结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一、项目背景与</a:t>
            </a:r>
            <a:r>
              <a:rPr lang="zh-CN" altLang="en-US"/>
              <a:t>意义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94030" y="1679575"/>
            <a:ext cx="11276965" cy="3554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buFont typeface="Wingdings" panose="05000000000000000000" charset="0"/>
              <a:buNone/>
            </a:pPr>
            <a:r>
              <a:rPr sz="2000"/>
              <a:t>🎯 项目背景：AI模型在实际落地中面临两大挑战</a:t>
            </a:r>
            <a:endParaRPr lang="zh-CN" altLang="en-US" sz="2000">
              <a:sym typeface="+mn-ea"/>
            </a:endParaRPr>
          </a:p>
          <a:p>
            <a:pPr marL="457200" lvl="1" indent="0">
              <a:lnSpc>
                <a:spcPct val="200000"/>
              </a:lnSpc>
              <a:buNone/>
            </a:pPr>
            <a:endParaRPr lang="zh-CN" altLang="en-US" sz="2000">
              <a:solidFill>
                <a:schemeClr val="tx1"/>
              </a:solidFill>
            </a:endParaRPr>
          </a:p>
          <a:p>
            <a:pPr marL="457200" lvl="1" indent="0">
              <a:lnSpc>
                <a:spcPct val="200000"/>
              </a:lnSpc>
              <a:buNone/>
            </a:pPr>
            <a:endParaRPr lang="zh-CN" altLang="en-US" sz="2000">
              <a:solidFill>
                <a:schemeClr val="tx1"/>
              </a:solidFill>
            </a:endParaRPr>
          </a:p>
          <a:p>
            <a:pPr marL="0" lvl="0" indent="0">
              <a:lnSpc>
                <a:spcPct val="200000"/>
              </a:lnSpc>
              <a:buNone/>
            </a:pPr>
            <a:endParaRPr lang="zh-CN" altLang="en-US" sz="2000">
              <a:solidFill>
                <a:schemeClr val="tx1"/>
              </a:solidFill>
            </a:endParaRPr>
          </a:p>
          <a:p>
            <a:pPr marL="0" lvl="0" indent="0">
              <a:lnSpc>
                <a:spcPct val="100000"/>
              </a:lnSpc>
              <a:buNone/>
            </a:pPr>
            <a:endParaRPr lang="zh-CN" altLang="en-US" sz="2000">
              <a:solidFill>
                <a:schemeClr val="tx1"/>
              </a:solidFill>
            </a:endParaRPr>
          </a:p>
          <a:p>
            <a:pPr algn="l"/>
          </a:p>
          <a:p>
            <a:pPr algn="l"/>
            <a:r>
              <a:rPr sz="1600"/>
              <a:t>▸ 领域偏移：训练数据（真实照片）与应用场景（卡通/素描）分布不同</a:t>
            </a:r>
          </a:p>
          <a:p>
            <a:pPr algn="l"/>
            <a:r>
              <a:rPr sz="1600"/>
              <a:t>        → 分布差异导致模型准确率骤降</a:t>
            </a:r>
          </a:p>
          <a:p>
            <a:pPr algn="l"/>
          </a:p>
          <a:p>
            <a:pPr algn="l"/>
            <a:r>
              <a:rPr sz="1600"/>
              <a:t>▸ 未知类别干扰：训练集（猫、狗、鸟），测试集（+鱼、蛇）</a:t>
            </a:r>
          </a:p>
          <a:p>
            <a:pPr algn="l"/>
            <a:r>
              <a:rPr sz="1600"/>
              <a:t>        → 从未见过的类别无法被正确识别</a:t>
            </a:r>
          </a:p>
          <a:p>
            <a:pPr algn="l"/>
          </a:p>
          <a:p>
            <a:pPr algn="l"/>
            <a:r>
              <a:rPr sz="2000"/>
              <a:t>📌 应用场景</a:t>
            </a:r>
          </a:p>
          <a:p>
            <a:pPr algn="l"/>
            <a:r>
              <a:rPr sz="1600"/>
              <a:t>▸ 自动驾驶 → 未知障碍物检测</a:t>
            </a:r>
          </a:p>
          <a:p>
            <a:pPr algn="l"/>
            <a:r>
              <a:rPr sz="1600"/>
              <a:t>▸ 医疗诊断 → 罕见病灶识别</a:t>
            </a:r>
          </a:p>
          <a:p>
            <a:pPr algn="l"/>
            <a:r>
              <a:rPr sz="1600"/>
              <a:t>▸ 安防监控 → 异常行为发现</a:t>
            </a:r>
          </a:p>
          <a:p>
            <a:pPr algn="l"/>
          </a:p>
          <a:p>
            <a:pPr algn="l"/>
            <a:r>
              <a:rPr sz="1800"/>
              <a:t>💡 项目目标：让模型在领域差异和未知类别干扰下，保持高精度、高鲁棒的识别能力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二、核心问题</a:t>
            </a:r>
            <a:r>
              <a:rPr lang="zh-CN" altLang="en-US"/>
              <a:t>与挑战</a:t>
            </a:r>
            <a:endParaRPr lang="zh-CN" altLang="en-US"/>
          </a:p>
        </p:txBody>
      </p:sp>
      <p:sp>
        <p:nvSpPr>
          <p:cNvPr id="3" name="装饰  6"/>
          <p:cNvSpPr>
            <a:spLocks noGrp="1"/>
          </p:cNvSpPr>
          <p:nvPr>
            <p:ph type="body" idx="16394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01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模型提取的特征混杂了“类别信息”和“领域信息”，</a:t>
            </a:r>
            <a:r>
              <a:rPr lang="zh-CN" altLang="en-US"/>
              <a:t>从而导致已知类和未知类难以区分。</a:t>
            </a:r>
            <a:endParaRPr lang="zh-CN" altLang="en-US"/>
          </a:p>
          <a:p>
            <a:pPr algn="l"/>
            <a:r>
              <a:rPr sz="1600">
                <a:solidFill>
                  <a:srgbClr val="2E7D32"/>
                </a:solidFill>
              </a:rPr>
              <a:t>→ 解决方案：双分支特征解耦</a:t>
            </a:r>
          </a:p>
        </p:txBody>
      </p:sp>
      <p:sp>
        <p:nvSpPr>
          <p:cNvPr id="6" name="装饰  9"/>
          <p:cNvSpPr>
            <a:spLocks noGrp="1"/>
          </p:cNvSpPr>
          <p:nvPr>
            <p:ph type="body" idx="16395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02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模型训练</a:t>
            </a:r>
            <a:r>
              <a:rPr lang="zh-CN" altLang="en-US"/>
              <a:t>中传统域对抗训练强度固定，后期会损害模型对“类别”的区分能力。</a:t>
            </a:r>
            <a:endParaRPr lang="zh-CN" altLang="en-US"/>
          </a:p>
          <a:p>
            <a:pPr algn="l"/>
            <a:r>
              <a:rPr sz="1600">
                <a:solidFill>
                  <a:srgbClr val="2E7D32"/>
                </a:solidFill>
              </a:rPr>
              <a:t>→ 解决方案：动态GRL + 三阶段训练</a:t>
            </a:r>
          </a:p>
        </p:txBody>
      </p:sp>
      <p:sp>
        <p:nvSpPr>
          <p:cNvPr id="9" name="装饰  2"/>
          <p:cNvSpPr>
            <a:spLocks noGrp="1"/>
          </p:cNvSpPr>
          <p:nvPr>
            <p:ph type="body" idx="16396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1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03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模型仅依靠1-2个指标（如分类置信度）判断未知类，鲁棒性不足。</a:t>
            </a:r>
            <a:endParaRPr lang="zh-CN" altLang="en-US"/>
          </a:p>
          <a:p>
            <a:pPr algn="l"/>
            <a:r>
              <a:rPr sz="1600">
                <a:solidFill>
                  <a:srgbClr val="2E7D32"/>
                </a:solidFill>
              </a:rPr>
              <a:t>→ 解决方案：四源融合检测策略</a:t>
            </a:r>
          </a:p>
        </p:txBody>
      </p:sp>
      <p:sp>
        <p:nvSpPr>
          <p:cNvPr id="12" name="装饰  5"/>
          <p:cNvSpPr>
            <a:spLocks noGrp="1"/>
          </p:cNvSpPr>
          <p:nvPr>
            <p:ph type="body" idx="16397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3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/>
              <a:t>04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2"/>
            <p:custDataLst>
              <p:tags r:id="rId14"/>
            </p:custDataLst>
          </p:nvPr>
        </p:nvSpPr>
        <p:spPr/>
        <p:txBody>
          <a:bodyPr/>
          <a:p>
            <a:r>
              <a:rPr lang="zh-CN" altLang="en-US"/>
              <a:t>模型未充分利用数据重构误差作为辅助检测信号。</a:t>
            </a:r>
            <a:endParaRPr lang="zh-CN" altLang="en-US"/>
          </a:p>
          <a:p>
            <a:pPr algn="l"/>
            <a:r>
              <a:rPr sz="1600">
                <a:solidFill>
                  <a:srgbClr val="2E7D32"/>
                </a:solidFill>
              </a:rPr>
              <a:t>→ 解决方案：VAE重构模块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610235" y="2799715"/>
            <a:ext cx="1471930" cy="5918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600" b="1"/>
              <a:t>特征混淆</a:t>
            </a:r>
            <a:endParaRPr lang="zh-CN" altLang="en-US" sz="1600" b="1"/>
          </a:p>
        </p:txBody>
      </p:sp>
      <p:sp>
        <p:nvSpPr>
          <p:cNvPr id="17" name="文本框 16"/>
          <p:cNvSpPr txBox="1"/>
          <p:nvPr/>
        </p:nvSpPr>
        <p:spPr>
          <a:xfrm>
            <a:off x="6248400" y="2799715"/>
            <a:ext cx="14732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/>
              <a:t>训练策略僵化</a:t>
            </a:r>
            <a:endParaRPr lang="zh-CN" altLang="en-US" sz="1600" b="1"/>
          </a:p>
        </p:txBody>
      </p:sp>
      <p:sp>
        <p:nvSpPr>
          <p:cNvPr id="18" name="文本框 17"/>
          <p:cNvSpPr txBox="1"/>
          <p:nvPr/>
        </p:nvSpPr>
        <p:spPr>
          <a:xfrm>
            <a:off x="611505" y="5338445"/>
            <a:ext cx="1471295" cy="473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600" b="1"/>
              <a:t>判别信息单一</a:t>
            </a:r>
            <a:endParaRPr lang="zh-CN" altLang="en-US" sz="1600" b="1"/>
          </a:p>
        </p:txBody>
      </p:sp>
      <p:sp>
        <p:nvSpPr>
          <p:cNvPr id="19" name="文本框 18"/>
          <p:cNvSpPr txBox="1"/>
          <p:nvPr/>
        </p:nvSpPr>
        <p:spPr>
          <a:xfrm>
            <a:off x="6247765" y="5338445"/>
            <a:ext cx="14732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/>
              <a:t>重构辅助缺失</a:t>
            </a:r>
            <a:endParaRPr lang="zh-CN" altLang="en-US" sz="1600" b="1"/>
          </a:p>
        </p:txBody>
      </p:sp>
    </p:spTree>
    <p:custDataLst>
      <p:tags r:id="rId1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uiExpand="1" build="p"/>
      <p:bldP spid="3" grpId="1" animBg="1" build="p"/>
      <p:bldP spid="4" grpId="0" build="p"/>
      <p:bldP spid="4" grpId="1" build="p"/>
      <p:bldP spid="15" grpId="0"/>
      <p:bldP spid="15" grpId="1"/>
      <p:bldP spid="5" grpId="0" build="p"/>
      <p:bldP spid="5" grpId="1" build="p"/>
      <p:bldP spid="6" grpId="0" animBg="1" uiExpand="1" build="p"/>
      <p:bldP spid="6" grpId="1" animBg="1" build="p"/>
      <p:bldP spid="7" grpId="0" build="p"/>
      <p:bldP spid="7" grpId="1" build="p"/>
      <p:bldP spid="17" grpId="0"/>
      <p:bldP spid="17" grpId="1"/>
      <p:bldP spid="8" grpId="0" build="p"/>
      <p:bldP spid="8" grpId="1" build="p"/>
      <p:bldP spid="9" grpId="0" animBg="1" uiExpand="1" build="p"/>
      <p:bldP spid="9" grpId="1" animBg="1" build="p"/>
      <p:bldP spid="10" grpId="0" build="p"/>
      <p:bldP spid="10" grpId="1" build="p"/>
      <p:bldP spid="18" grpId="0"/>
      <p:bldP spid="18" grpId="1"/>
      <p:bldP spid="11" grpId="0" build="p"/>
      <p:bldP spid="11" grpId="1" build="p"/>
      <p:bldP spid="12" grpId="0" animBg="1" uiExpand="1" build="p"/>
      <p:bldP spid="12" grpId="1" animBg="1" build="p"/>
      <p:bldP spid="19" grpId="0"/>
      <p:bldP spid="19" grpId="1"/>
      <p:bldP spid="14" grpId="0" build="p"/>
      <p:bldP spid="14" grpI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360" y="566420"/>
            <a:ext cx="4926965" cy="767080"/>
          </a:xfrm>
        </p:spPr>
        <p:txBody>
          <a:bodyPr>
            <a:normAutofit/>
          </a:bodyPr>
          <a:p>
            <a:pPr algn="l"/>
            <a:r>
              <a:rPr lang="zh-CN" altLang="en-US"/>
              <a:t>三、解决方案：总体</a:t>
            </a:r>
            <a:r>
              <a:rPr lang="zh-CN" altLang="en-US"/>
              <a:t>框架</a:t>
            </a:r>
            <a:endParaRPr lang="zh-CN" altLang="en-US"/>
          </a:p>
        </p:txBody>
      </p:sp>
      <p:pic>
        <p:nvPicPr>
          <p:cNvPr id="5" name="图片 1" descr="方法流程图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74970" y="566420"/>
            <a:ext cx="6256020" cy="543750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67360" y="1421765"/>
            <a:ext cx="5007610" cy="5038090"/>
          </a:xfrm>
        </p:spPr>
        <p:txBody>
          <a:bodyPr/>
          <a:p>
            <a:r>
              <a:rPr lang="zh-CN" altLang="en-US" sz="1800" b="1"/>
              <a:t>总体框架：</a:t>
            </a:r>
            <a:r>
              <a:rPr lang="zh-CN" altLang="en-US" sz="1800"/>
              <a:t>如流程图所示，我们的核心理念是采用特征解耦</a:t>
            </a:r>
            <a:r>
              <a:rPr lang="en-US" altLang="zh-CN" sz="1800"/>
              <a:t>+</a:t>
            </a:r>
            <a:r>
              <a:rPr lang="zh-CN" altLang="en-US" sz="1800"/>
              <a:t>数据重构</a:t>
            </a:r>
            <a:r>
              <a:rPr lang="en-US" altLang="zh-CN" sz="1800"/>
              <a:t>+</a:t>
            </a:r>
            <a:r>
              <a:rPr lang="zh-CN" altLang="en-US" sz="1800"/>
              <a:t>动态自适应训练的框架来使得模型对于已知类和未知类</a:t>
            </a:r>
            <a:r>
              <a:rPr lang="zh-CN" altLang="en-US" sz="1800"/>
              <a:t>进行更有效</a:t>
            </a:r>
            <a:r>
              <a:rPr lang="zh-CN" altLang="en-US" sz="1800"/>
              <a:t>的区分。</a:t>
            </a:r>
            <a:endParaRPr lang="zh-CN" altLang="en-US" sz="1800"/>
          </a:p>
          <a:p>
            <a:r>
              <a:rPr lang="zh-CN" altLang="en-US" sz="1800" b="1"/>
              <a:t>具体方案：</a:t>
            </a:r>
            <a:r>
              <a:rPr lang="zh-CN" altLang="en-US" sz="1800"/>
              <a:t>模型首先对来自不同域的图片（如源域照片</a:t>
            </a:r>
            <a:r>
              <a:rPr lang="en-US" altLang="zh-CN" sz="1800"/>
              <a:t>Real</a:t>
            </a:r>
            <a:r>
              <a:rPr lang="zh-CN" altLang="en-US" sz="1800"/>
              <a:t>和目标域图片</a:t>
            </a:r>
            <a:r>
              <a:rPr lang="en-US" altLang="zh-CN" sz="1800"/>
              <a:t>Clipart）</a:t>
            </a:r>
            <a:r>
              <a:rPr lang="zh-CN" altLang="en-US" sz="1800"/>
              <a:t>进行差异化数据增强，接着通过主干网络（</a:t>
            </a:r>
            <a:r>
              <a:rPr lang="en-US" altLang="zh-CN" sz="1800"/>
              <a:t>ConvNeXt）​ </a:t>
            </a:r>
            <a:r>
              <a:rPr lang="zh-CN" altLang="en-US" sz="1800"/>
              <a:t>提取通用特征，并通过动态梯度反转层在训练的不同阶段智能调节对抗强度，其核心是训练前期（即</a:t>
            </a:r>
            <a:r>
              <a:rPr lang="en-US" altLang="zh-CN" sz="1800"/>
              <a:t>epoch≤20</a:t>
            </a:r>
            <a:r>
              <a:rPr lang="zh-CN" altLang="en-US" sz="1800"/>
              <a:t>时</a:t>
            </a:r>
            <a:r>
              <a:rPr lang="en-US" altLang="zh-CN" sz="1800"/>
              <a:t>）</a:t>
            </a:r>
            <a:r>
              <a:rPr lang="zh-CN" altLang="en-US" sz="1800"/>
              <a:t>重点学习域不变特征，后期则转为强化类别区分。之后，模型采用双分支结构分别处理类别和领域判别任务，而特征解耦模块则专门用于从混合特征中分离出纯净的类别信息，模型的</a:t>
            </a:r>
            <a:r>
              <a:rPr lang="en-US" altLang="zh-CN" sz="1800"/>
              <a:t>VAE</a:t>
            </a:r>
            <a:r>
              <a:rPr lang="zh-CN" altLang="en-US" sz="1800"/>
              <a:t>重构模块通过自监督的重构任务，辅助学习更本质的特征表示。最终，整个流程输出两大核心结果：对已知类别的高精度分类以及对未知类别的有效检测。</a:t>
            </a:r>
            <a:endParaRPr lang="zh-CN" altLang="en-US" sz="1800"/>
          </a:p>
          <a:p/>
          <a:p>
            <a:pPr algn="l"/>
            <a:r>
              <a:rPr sz="1200">
                <a:solidFill>
                  <a:srgbClr val="999999"/>
                </a:solidFill>
              </a:rPr>
              <a:t>[注：建议使用Mermaid架构图替换当前图表以获得更清晰的可视化效果]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4" grpI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6047740" cy="1325880"/>
          </a:xfrm>
        </p:spPr>
        <p:txBody>
          <a:bodyPr>
            <a:normAutofit/>
          </a:bodyPr>
          <a:p>
            <a:r>
              <a:rPr lang="zh-CN" altLang="en-US" sz="3110"/>
              <a:t>三、技术创新点（一）：动态域对抗与特征解耦</a:t>
            </a:r>
            <a:endParaRPr lang="zh-CN" altLang="en-US" sz="311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2157095"/>
          </a:xfrm>
        </p:spPr>
        <p:txBody>
          <a:bodyPr>
            <a:normAutofit lnSpcReduction="10000"/>
          </a:bodyPr>
          <a:p>
            <a:pPr marL="0" indent="0" algn="l">
              <a:buNone/>
            </a:pPr>
            <a:endParaRPr lang="en-US" altLang="zh-CN" sz="2000" b="1">
              <a:latin typeface="+mn-ea"/>
              <a:cs typeface="+mn-ea"/>
            </a:endParaRP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tx1"/>
                </a:solidFill>
                <a:latin typeface="+mn-ea"/>
                <a:cs typeface="+mn-ea"/>
              </a:rPr>
              <a:t>策略：</a:t>
            </a:r>
            <a:r>
              <a:rPr lang="zh-CN" altLang="en-US" sz="2000">
                <a:solidFill>
                  <a:schemeClr val="tx1"/>
                </a:solidFill>
                <a:latin typeface="+mn-ea"/>
                <a:cs typeface="+mn-ea"/>
              </a:rPr>
              <a:t>模型在训练前期高强度对抗，以学习“域不变特征”；在训练后期降低对抗强度，</a:t>
            </a:r>
            <a:r>
              <a:rPr lang="zh-CN" altLang="en-US" sz="2000">
                <a:solidFill>
                  <a:schemeClr val="tx1"/>
                </a:solidFill>
                <a:latin typeface="+mn-ea"/>
                <a:cs typeface="+mn-ea"/>
              </a:rPr>
              <a:t>以强化“类别区分性”</a:t>
            </a:r>
            <a:r>
              <a:rPr lang="zh-CN" altLang="en-US" sz="2000" b="1">
                <a:solidFill>
                  <a:schemeClr val="tx1"/>
                </a:solidFill>
                <a:latin typeface="+mn-ea"/>
                <a:cs typeface="+mn-ea"/>
              </a:rPr>
              <a:t>。</a:t>
            </a:r>
            <a:endParaRPr lang="zh-CN" altLang="en-US" sz="2000" b="1">
              <a:solidFill>
                <a:schemeClr val="tx1"/>
              </a:solidFill>
              <a:latin typeface="+mn-ea"/>
              <a:cs typeface="+mn-ea"/>
            </a:endParaRP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tx1"/>
                </a:solidFill>
                <a:latin typeface="+mn-ea"/>
                <a:cs typeface="+mn-ea"/>
              </a:rPr>
              <a:t>公式：</a:t>
            </a:r>
            <a:r>
              <a:rPr lang="en-US" altLang="zh-CN" sz="2000">
                <a:solidFill>
                  <a:schemeClr val="tx1"/>
                </a:solidFill>
                <a:latin typeface="+mn-ea"/>
                <a:cs typeface="+mn-ea"/>
              </a:rPr>
              <a:t>α_t=α_base×decay^(epoch//2)</a:t>
            </a:r>
            <a:endParaRPr lang="en-US" altLang="zh-CN" sz="2000">
              <a:solidFill>
                <a:schemeClr val="tx1"/>
              </a:solidFill>
              <a:latin typeface="+mn-ea"/>
              <a:cs typeface="+mn-ea"/>
            </a:endParaRPr>
          </a:p>
          <a:p>
            <a:pPr algn="l"/>
            <a:r>
              <a:rPr sz="1600">
                <a:solidFill>
                  <a:srgbClr val="1565C0"/>
                </a:solidFill>
              </a:rPr>
              <a:t>💡 Why it works：</a:t>
            </a:r>
          </a:p>
          <a:p>
            <a:pPr algn="l"/>
            <a:r>
              <a:rPr sz="1400"/>
              <a:t>前期α高 → 强对抗 → 学到域不变特征 ✓</a:t>
            </a:r>
          </a:p>
          <a:p>
            <a:pPr algn="l"/>
            <a:r>
              <a:rPr sz="1400"/>
              <a:t>后期α低 → 弱对抗 → 保护类别区分性 ✓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200" y="4117340"/>
            <a:ext cx="5181600" cy="2479040"/>
          </a:xfrm>
        </p:spPr>
        <p:txBody>
          <a:bodyPr/>
          <a:p>
            <a:pPr marL="0" indent="0" algn="l">
              <a:buNone/>
            </a:pPr>
            <a:endParaRPr lang="zh-CN" altLang="en-US" sz="2000" b="1">
              <a:latin typeface="+mn-ea"/>
              <a:cs typeface="+mn-ea"/>
            </a:endParaRP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tx1"/>
                </a:solidFill>
                <a:latin typeface="+mn-ea"/>
                <a:cs typeface="+mn-ea"/>
              </a:rPr>
              <a:t>目标：</a:t>
            </a:r>
            <a:r>
              <a:rPr lang="zh-CN" altLang="en-US" sz="2000">
                <a:solidFill>
                  <a:schemeClr val="tx1"/>
                </a:solidFill>
                <a:latin typeface="+mn-ea"/>
                <a:cs typeface="+mn-ea"/>
              </a:rPr>
              <a:t>将特征中的“类别信息”和“域信息”分离。</a:t>
            </a:r>
            <a:endParaRPr lang="zh-CN" altLang="en-US" sz="2000">
              <a:solidFill>
                <a:schemeClr val="tx1"/>
              </a:solidFill>
              <a:latin typeface="+mn-ea"/>
              <a:cs typeface="+mn-ea"/>
            </a:endParaRP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tx1"/>
                </a:solidFill>
                <a:latin typeface="+mn-ea"/>
                <a:cs typeface="+mn-ea"/>
              </a:rPr>
              <a:t>方法：</a:t>
            </a:r>
            <a:r>
              <a:rPr lang="zh-CN" altLang="en-US" sz="2000">
                <a:solidFill>
                  <a:schemeClr val="tx1"/>
                </a:solidFill>
                <a:latin typeface="+mn-ea"/>
                <a:cs typeface="+mn-ea"/>
              </a:rPr>
              <a:t>通过正交约束损失 (</a:t>
            </a:r>
            <a:r>
              <a:rPr lang="en-US" altLang="zh-CN" sz="2000">
                <a:solidFill>
                  <a:schemeClr val="tx1"/>
                </a:solidFill>
                <a:latin typeface="+mn-ea"/>
                <a:cs typeface="+mn-ea"/>
              </a:rPr>
              <a:t>L_orth) + </a:t>
            </a:r>
            <a:r>
              <a:rPr lang="zh-CN" altLang="en-US" sz="2000">
                <a:solidFill>
                  <a:schemeClr val="tx1"/>
                </a:solidFill>
                <a:latin typeface="+mn-ea"/>
                <a:cs typeface="+mn-ea"/>
              </a:rPr>
              <a:t>互信息最小化损失 (</a:t>
            </a:r>
            <a:r>
              <a:rPr lang="en-US" altLang="zh-CN" sz="2000">
                <a:solidFill>
                  <a:schemeClr val="tx1"/>
                </a:solidFill>
                <a:latin typeface="+mn-ea"/>
                <a:cs typeface="+mn-ea"/>
              </a:rPr>
              <a:t>L_mi)</a:t>
            </a:r>
            <a:r>
              <a:rPr lang="zh-CN" altLang="en-US" sz="2000">
                <a:solidFill>
                  <a:schemeClr val="tx1"/>
                </a:solidFill>
                <a:latin typeface="+mn-ea"/>
                <a:cs typeface="+mn-ea"/>
              </a:rPr>
              <a:t>来实现特征分离</a:t>
            </a:r>
            <a:r>
              <a:rPr lang="en-US" altLang="zh-CN" sz="2000">
                <a:solidFill>
                  <a:schemeClr val="tx1"/>
                </a:solidFill>
                <a:latin typeface="+mn-ea"/>
                <a:cs typeface="+mn-ea"/>
              </a:rPr>
              <a:t>。</a:t>
            </a:r>
            <a:endParaRPr lang="en-US" altLang="zh-CN" sz="2000">
              <a:solidFill>
                <a:schemeClr val="tx1"/>
              </a:solidFill>
              <a:latin typeface="+mn-ea"/>
              <a:cs typeface="+mn-ea"/>
            </a:endParaRPr>
          </a:p>
          <a:p>
            <a:pPr marL="228600" lvl="0" indent="-228600">
              <a:buFont typeface="Arial" panose="020B0604020202020204" pitchFamily="34" charset="0"/>
              <a:buChar char="•"/>
            </a:pPr>
            <a:endParaRPr lang="en-US" altLang="zh-CN" sz="2000">
              <a:solidFill>
                <a:schemeClr val="tx1"/>
              </a:solidFill>
              <a:latin typeface="+mn-ea"/>
              <a:cs typeface="+mn-ea"/>
            </a:endParaRPr>
          </a:p>
          <a:p>
            <a:pPr algn="l"/>
            <a:r>
              <a:rPr sz="1600">
                <a:solidFill>
                  <a:srgbClr val="1565C0"/>
                </a:solidFill>
              </a:rPr>
              <a:t>💡 Why it works：</a:t>
            </a:r>
          </a:p>
          <a:p>
            <a:pPr algn="l"/>
            <a:r>
              <a:rPr sz="1400"/>
              <a:t>正交约束 → 两分支学习互补信息而非冗余信息</a:t>
            </a:r>
          </a:p>
          <a:p>
            <a:pPr algn="l"/>
            <a:r>
              <a:rPr sz="1400"/>
              <a:t>→ 已知类判别力显著增强</a:t>
            </a:r>
          </a:p>
        </p:txBody>
      </p:sp>
      <p:pic>
        <p:nvPicPr>
          <p:cNvPr id="6" name="图片 2" descr="网络结构图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3570" y="614045"/>
            <a:ext cx="3799205" cy="57289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build="p"/>
      <p:bldP spid="4" grpId="0" uiExpand="1" build="p"/>
      <p:bldP spid="4" grpI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105" y="538480"/>
            <a:ext cx="6877685" cy="1070610"/>
          </a:xfrm>
        </p:spPr>
        <p:txBody>
          <a:bodyPr/>
          <a:p>
            <a:pPr algn="l"/>
            <a:r>
              <a:rPr lang="zh-CN" altLang="en-US" sz="2800"/>
              <a:t>三、技术创新点（二）：多源融合开放集检测</a:t>
            </a:r>
            <a:endParaRPr lang="zh-CN" altLang="en-US" sz="2800"/>
          </a:p>
        </p:txBody>
      </p:sp>
      <p:pic>
        <p:nvPicPr>
          <p:cNvPr id="5" name="图片 5" descr="网络结构图(3)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17155" y="640715"/>
            <a:ext cx="3257550" cy="5575935"/>
          </a:xfrm>
          <a:prstGeom prst="rect">
            <a:avLst/>
          </a:prstGeom>
        </p:spPr>
      </p:pic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55600" y="1955800"/>
            <a:ext cx="6089015" cy="4260850"/>
          </a:xfrm>
        </p:spPr>
        <p:txBody>
          <a:bodyPr/>
          <a:p>
            <a:pPr algn="l"/>
            <a:r>
              <a:rPr sz="1800"/>
              <a:t>融合四个维度的信息进行综合决策：</a:t>
            </a:r>
            <a:endParaRPr lang="zh-CN" altLang="en-US" sz="2000"/>
          </a:p>
          <a:p>
            <a:pPr marL="457200" lvl="1" indent="0">
              <a:buNone/>
            </a:pPr>
            <a:endParaRPr lang="zh-CN" altLang="en-US" sz="2000">
              <a:solidFill>
                <a:schemeClr val="tx1"/>
              </a:solidFill>
            </a:endParaRPr>
          </a:p>
          <a:p>
            <a:pPr marL="457200" lvl="1" indent="0">
              <a:buNone/>
            </a:pPr>
            <a:endParaRPr lang="zh-CN" altLang="en-US" sz="2000">
              <a:solidFill>
                <a:schemeClr val="tx1"/>
              </a:solidFill>
            </a:endParaRPr>
          </a:p>
          <a:p>
            <a:pPr marL="457200" lvl="1" indent="0">
              <a:buNone/>
            </a:pPr>
            <a:endParaRPr lang="zh-CN" altLang="en-US" sz="2000">
              <a:solidFill>
                <a:schemeClr val="tx1"/>
              </a:solidFill>
            </a:endParaRPr>
          </a:p>
          <a:p>
            <a:pPr marL="457200" lvl="1" indent="0">
              <a:buNone/>
            </a:pPr>
            <a:endParaRPr lang="zh-CN" altLang="en-US" sz="2000">
              <a:solidFill>
                <a:schemeClr val="tx1"/>
              </a:solidFill>
            </a:endParaRPr>
          </a:p>
          <a:p>
            <a:pPr marL="0" lvl="0" indent="0" algn="l">
              <a:buNone/>
            </a:pPr>
            <a:endParaRPr lang="zh-CN" altLang="en-US" sz="2000" b="1">
              <a:solidFill>
                <a:schemeClr val="tx1"/>
              </a:solidFill>
            </a:endParaRPr>
          </a:p>
          <a:p>
            <a:pPr marL="0" lvl="0" indent="0" algn="l">
              <a:buNone/>
            </a:pPr>
            <a:endParaRPr lang="en-US" altLang="zh-CN" sz="2000">
              <a:solidFill>
                <a:schemeClr val="tx1"/>
              </a:solidFill>
            </a:endParaRPr>
          </a:p>
          <a:p>
            <a:pPr algn="l"/>
          </a:p>
          <a:p>
            <a:pPr algn="l"/>
            <a:r>
              <a:rPr sz="1600"/>
              <a:t>▸ 维度一：分类置信度 — 1 - max(P)，反映模型不确定性（权重30%）</a:t>
            </a:r>
          </a:p>
          <a:p>
            <a:pPr algn="l"/>
            <a:r>
              <a:rPr sz="1600"/>
              <a:t>▸ 维度二：类中心距离 — min ‖f - c_k‖，几何位置偏离程度（权重40%）</a:t>
            </a:r>
          </a:p>
          <a:p>
            <a:pPr algn="l"/>
            <a:r>
              <a:rPr sz="1600"/>
              <a:t>▸ 维度三：VAE重构误差 — ‖f - f̂‖，生成质量异常检测（权重20%）</a:t>
            </a:r>
          </a:p>
          <a:p>
            <a:pPr algn="l"/>
            <a:r>
              <a:rPr sz="1600"/>
              <a:t>▸ 维度四：特征方差 — Var(f)，特征稳定性评估（权重10%）</a:t>
            </a:r>
          </a:p>
          <a:p>
            <a:pPr algn="l"/>
          </a:p>
          <a:p>
            <a:pPr algn="l"/>
            <a:r>
              <a:rPr sz="1800">
                <a:solidFill>
                  <a:srgbClr val="1565C0"/>
                </a:solidFill>
              </a:rPr>
              <a:t>📐 融合公式：</a:t>
            </a:r>
          </a:p>
          <a:p>
            <a:pPr algn="ctr"/>
            <a:r>
              <a:rPr sz="1600"/>
              <a:t>Score = 0.30×(1-max(P)) + 0.40×min‖f-c_k‖</a:t>
            </a:r>
          </a:p>
          <a:p>
            <a:pPr algn="ctr"/>
            <a:r>
              <a:rPr sz="1600"/>
              <a:t>        + 0.20×‖f-f̂‖ + 0.10×Var(f)</a:t>
            </a:r>
          </a:p>
          <a:p>
            <a:pPr algn="l"/>
          </a:p>
          <a:p>
            <a:pPr algn="l"/>
            <a:r>
              <a:rPr sz="1600">
                <a:solidFill>
                  <a:srgbClr val="1565C0"/>
                </a:solidFill>
              </a:rPr>
              <a:t>🔍 权重确定方法：</a:t>
            </a:r>
          </a:p>
          <a:p>
            <a:pPr algn="l"/>
            <a:r>
              <a:rPr sz="1400"/>
              <a:t>网格搜索 → 遍历0.05步长组合 → 选取最高H-score组合</a:t>
            </a:r>
          </a:p>
          <a:p>
            <a:pPr algn="l"/>
            <a:r>
              <a:rPr sz="1400"/>
              <a:t>距离权重最高（40%）：特征空间几何结构直接反映偏离程度，信号最稳定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4" grpI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7428865" cy="1014730"/>
          </a:xfrm>
        </p:spPr>
        <p:txBody>
          <a:bodyPr/>
          <a:p>
            <a:r>
              <a:rPr lang="zh-CN" altLang="en-US" sz="2800">
                <a:latin typeface="+mj-ea"/>
                <a:cs typeface="+mj-ea"/>
              </a:rPr>
              <a:t>三、技术创新点（三）：</a:t>
            </a:r>
            <a:r>
              <a:rPr lang="en-US" altLang="zh-CN" sz="2800">
                <a:latin typeface="+mj-ea"/>
                <a:cs typeface="+mj-ea"/>
                <a:sym typeface="+mn-ea"/>
              </a:rPr>
              <a:t>VAE</a:t>
            </a:r>
            <a:r>
              <a:rPr lang="zh-CN" altLang="en-US" sz="2800">
                <a:latin typeface="+mj-ea"/>
                <a:cs typeface="+mj-ea"/>
                <a:sym typeface="+mn-ea"/>
              </a:rPr>
              <a:t>重构模块</a:t>
            </a:r>
            <a:endParaRPr lang="zh-CN" altLang="en-US" sz="2800">
              <a:latin typeface="+mj-ea"/>
              <a:cs typeface="+mj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7990" y="1489710"/>
            <a:ext cx="7987030" cy="5222875"/>
          </a:xfrm>
        </p:spPr>
        <p:txBody>
          <a:bodyPr/>
          <a:p>
            <a:pPr marL="0" indent="0" algn="l">
              <a:buNone/>
            </a:pPr>
            <a:r>
              <a:rPr sz="1800"/>
              <a:t>VAE重构模块：通过自监督学习协助提取数据本质特征</a:t>
            </a:r>
            <a:endParaRPr lang="zh-CN" altLang="en-US" sz="2000">
              <a:latin typeface="+mn-ea"/>
              <a:cs typeface="+mn-ea"/>
            </a:endParaRPr>
          </a:p>
          <a:p>
            <a:pPr marL="457200" lvl="1" indent="0">
              <a:buNone/>
            </a:pPr>
            <a:endParaRPr lang="en-US" altLang="zh-CN" sz="2000">
              <a:solidFill>
                <a:schemeClr val="tx1"/>
              </a:solidFill>
              <a:latin typeface="+mn-ea"/>
              <a:cs typeface="+mn-ea"/>
            </a:endParaRPr>
          </a:p>
          <a:p>
            <a:pPr marL="457200" lvl="1" indent="0">
              <a:buNone/>
            </a:pPr>
            <a:endParaRPr lang="zh-CN" altLang="en-US" sz="2000" b="1">
              <a:solidFill>
                <a:schemeClr val="tx1"/>
              </a:solidFill>
              <a:latin typeface="+mn-ea"/>
              <a:cs typeface="+mn-ea"/>
            </a:endParaRPr>
          </a:p>
          <a:p>
            <a:pPr marL="914400" lvl="2" indent="0">
              <a:buNone/>
            </a:pPr>
            <a:endParaRPr lang="en-US" altLang="zh-CN">
              <a:solidFill>
                <a:schemeClr val="tx1"/>
              </a:solidFill>
              <a:latin typeface="+mn-ea"/>
              <a:cs typeface="+mn-ea"/>
            </a:endParaRPr>
          </a:p>
          <a:p>
            <a:pPr marL="914400" lvl="2" indent="0">
              <a:buNone/>
            </a:pPr>
            <a:endParaRPr lang="en-US" altLang="zh-CN">
              <a:solidFill>
                <a:schemeClr val="tx1"/>
              </a:solidFill>
              <a:latin typeface="+mn-ea"/>
              <a:cs typeface="+mn-ea"/>
            </a:endParaRPr>
          </a:p>
          <a:p>
            <a:pPr marL="914400" lvl="2" indent="0">
              <a:buNone/>
            </a:pPr>
            <a:endParaRPr lang="zh-CN" altLang="en-US" b="1">
              <a:solidFill>
                <a:schemeClr val="tx1"/>
              </a:solidFill>
              <a:latin typeface="+mn-ea"/>
              <a:cs typeface="+mn-ea"/>
            </a:endParaRPr>
          </a:p>
          <a:p>
            <a:pPr marL="457200" lvl="1" indent="0">
              <a:buNone/>
            </a:pPr>
            <a:endParaRPr lang="zh-CN" altLang="en-US" sz="2000" b="1">
              <a:solidFill>
                <a:schemeClr val="tx1"/>
              </a:solidFill>
              <a:latin typeface="+mn-ea"/>
              <a:cs typeface="+mn-ea"/>
            </a:endParaRPr>
          </a:p>
          <a:p>
            <a:pPr marL="914400" lvl="2" indent="0">
              <a:buNone/>
            </a:pPr>
            <a:endParaRPr lang="zh-CN" altLang="en-US">
              <a:solidFill>
                <a:schemeClr val="tx1"/>
              </a:solidFill>
              <a:latin typeface="+mn-ea"/>
              <a:cs typeface="+mn-ea"/>
            </a:endParaRPr>
          </a:p>
          <a:p>
            <a:pPr marL="914400" lvl="2" indent="0">
              <a:buNone/>
            </a:pPr>
            <a:endParaRPr lang="zh-CN" altLang="en-US">
              <a:solidFill>
                <a:schemeClr val="tx1"/>
              </a:solidFill>
              <a:latin typeface="+mn-ea"/>
              <a:cs typeface="+mn-ea"/>
            </a:endParaRPr>
          </a:p>
          <a:p>
            <a:pPr marL="0" lvl="0" indent="0">
              <a:buNone/>
            </a:pPr>
            <a:endParaRPr lang="zh-CN" altLang="en-US" sz="2000" b="1">
              <a:solidFill>
                <a:schemeClr val="tx1"/>
              </a:solidFill>
              <a:latin typeface="+mn-ea"/>
              <a:cs typeface="+mn-ea"/>
            </a:endParaRPr>
          </a:p>
          <a:p>
            <a:pPr marL="457200" lvl="1" indent="0">
              <a:buNone/>
            </a:pPr>
            <a:endParaRPr lang="zh-CN" altLang="en-US" sz="2000">
              <a:solidFill>
                <a:schemeClr val="tx1"/>
              </a:solidFill>
              <a:latin typeface="+mn-ea"/>
              <a:cs typeface="+mn-ea"/>
            </a:endParaRPr>
          </a:p>
          <a:p>
            <a:pPr marL="457200" lvl="1" indent="0">
              <a:buNone/>
            </a:pPr>
            <a:endParaRPr lang="zh-CN" altLang="en-US" sz="2000">
              <a:solidFill>
                <a:schemeClr val="tx1"/>
              </a:solidFill>
              <a:latin typeface="+mn-ea"/>
              <a:cs typeface="+mn-ea"/>
            </a:endParaRPr>
          </a:p>
          <a:p>
            <a:pPr algn="l"/>
          </a:p>
          <a:p>
            <a:pPr algn="l"/>
            <a:r>
              <a:rPr sz="1600"/>
              <a:t>🔧 模型配置：</a:t>
            </a:r>
          </a:p>
          <a:p>
            <a:pPr algn="l"/>
            <a:r>
              <a:rPr sz="1400"/>
              <a:t>▸ 潜在空间维度：1024，激活函数：GELU</a:t>
            </a:r>
          </a:p>
          <a:p>
            <a:pPr algn="l"/>
            <a:r>
              <a:rPr sz="1400"/>
              <a:t>▸ 编码：2048维 → 1024维（潜在向量）</a:t>
            </a:r>
          </a:p>
          <a:p>
            <a:pPr algn="l"/>
            <a:r>
              <a:rPr sz="1400"/>
              <a:t>▸ 解码：1024维 → 2048维（重构特征）</a:t>
            </a:r>
          </a:p>
          <a:p>
            <a:pPr algn="l"/>
          </a:p>
          <a:p>
            <a:pPr algn="l"/>
            <a:r>
              <a:rPr sz="1600">
                <a:solidFill>
                  <a:srgbClr val="1565C0"/>
                </a:solidFill>
              </a:rPr>
              <a:t>📐 核心公式：</a:t>
            </a:r>
          </a:p>
          <a:p>
            <a:pPr algn="ctr"/>
            <a:r>
              <a:rPr sz="1600"/>
              <a:t>重构误差 = ‖f_original - f_reconstructed‖₂</a:t>
            </a:r>
          </a:p>
          <a:p>
            <a:pPr algn="l"/>
          </a:p>
          <a:p>
            <a:pPr algn="l"/>
            <a:r>
              <a:rPr sz="1600">
                <a:solidFill>
                  <a:srgbClr val="1565C0"/>
                </a:solidFill>
              </a:rPr>
              <a:t>💡 检测原理：</a:t>
            </a:r>
          </a:p>
          <a:p>
            <a:pPr algn="l"/>
            <a:r>
              <a:rPr sz="1400"/>
              <a:t>▸ 已知类：重构误差小（见过类似样本，模型能精确重构）</a:t>
            </a:r>
          </a:p>
          <a:p>
            <a:pPr algn="l"/>
            <a:r>
              <a:rPr sz="1400"/>
              <a:t>▸ 未知类：重构误差大（偏离训练分布，模型无法精确重构）</a:t>
            </a:r>
          </a:p>
          <a:p>
            <a:pPr algn="l"/>
          </a:p>
          <a:p>
            <a:pPr algn="l"/>
            <a:r>
              <a:rPr sz="1600">
                <a:solidFill>
                  <a:srgbClr val="2E7D32"/>
                </a:solidFill>
              </a:rPr>
              <a:t>✅ 与分类器信号互补 → 鲁棒性更强</a:t>
            </a:r>
          </a:p>
        </p:txBody>
      </p:sp>
      <p:pic>
        <p:nvPicPr>
          <p:cNvPr id="4" name="图片 3" descr="网络结构图(2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1710" y="767080"/>
            <a:ext cx="3138170" cy="55086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Autofit/>
          </a:bodyPr>
          <a:p>
            <a:r>
              <a:rPr lang="zh-CN" altLang="en-US" sz="2800"/>
              <a:t>三、技术创新点（四）：协同优化的训练策略</a:t>
            </a:r>
            <a:endParaRPr lang="zh-CN" altLang="en-US" sz="2800"/>
          </a:p>
        </p:txBody>
      </p:sp>
      <p:sp>
        <p:nvSpPr>
          <p:cNvPr id="3" name="文本占位符 2"/>
          <p:cNvSpPr>
            <a:spLocks noGrp="1"/>
          </p:cNvSpPr>
          <p:nvPr>
            <p:ph type="body" idx="16392"/>
            <p:custDataLst>
              <p:tags r:id="rId3"/>
            </p:custDataLst>
          </p:nvPr>
        </p:nvSpPr>
        <p:spPr>
          <a:gradFill>
            <a:lin ang="4800000"/>
          </a:gradFill>
        </p:spPr>
        <p:txBody>
          <a:bodyPr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>
          <a:xfrm>
            <a:off x="784225" y="1534160"/>
            <a:ext cx="1025525" cy="736600"/>
          </a:xfrm>
        </p:spPr>
        <p:txBody>
          <a:bodyPr/>
          <a:p>
            <a:r>
              <a:rPr lang="en-US" altLang="zh-CN"/>
              <a:t>01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>
          <a:xfrm>
            <a:off x="2082800" y="1717675"/>
            <a:ext cx="9194800" cy="1085215"/>
          </a:xfrm>
        </p:spPr>
        <p:txBody>
          <a:bodyPr>
            <a:noAutofit/>
          </a:bodyPr>
          <a:p>
            <a:pPr algn="l"/>
            <a:r>
              <a:rPr sz="1600"/>
              <a:t>滑动平均更新类中心，每3个epoch更新一次</a:t>
            </a:r>
            <a:endParaRPr lang="zh-CN" altLang="en-US">
              <a:latin typeface="+mn-ea"/>
              <a:cs typeface="+mn-ea"/>
            </a:endParaRPr>
          </a:p>
          <a:p>
            <a:pPr algn="l"/>
            <a:endParaRPr lang="en-US" altLang="zh-CN" b="1">
              <a:latin typeface="+mn-ea"/>
              <a:cs typeface="+mn-ea"/>
            </a:endParaRPr>
          </a:p>
          <a:p>
            <a:pPr algn="l"/>
            <a:endParaRPr lang="zh-CN" altLang="en-US" b="1">
              <a:latin typeface="+mn-ea"/>
              <a:cs typeface="+mn-ea"/>
            </a:endParaRPr>
          </a:p>
          <a:p>
            <a:pPr algn="l"/>
          </a:p>
          <a:p>
            <a:pPr algn="ctr"/>
            <a:r>
              <a:rPr sz="1600"/>
              <a:t>C_t = 0.9×C_{t-1} + 0.1×C_current</a:t>
            </a:r>
          </a:p>
          <a:p>
            <a:pPr algn="l"/>
          </a:p>
          <a:p>
            <a:pPr algn="l"/>
            <a:r>
              <a:rPr sz="1400"/>
              <a:t>→ 稳定可靠的类中心，为对比学习提供锚点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idx="16393"/>
            <p:custDataLst>
              <p:tags r:id="rId6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>
          <a:xfrm>
            <a:off x="784225" y="3154680"/>
            <a:ext cx="1025525" cy="736600"/>
          </a:xfrm>
        </p:spPr>
        <p:txBody>
          <a:bodyPr/>
          <a:p>
            <a:r>
              <a:rPr lang="en-US" altLang="zh-CN"/>
              <a:t>02</a:t>
            </a:r>
            <a:endParaRPr lang="en-US" altLang="zh-CN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>
          <a:xfrm>
            <a:off x="2082800" y="3289935"/>
            <a:ext cx="9194800" cy="1188085"/>
          </a:xfrm>
        </p:spPr>
        <p:txBody>
          <a:bodyPr>
            <a:noAutofit/>
          </a:bodyPr>
          <a:p>
            <a:pPr algn="l"/>
            <a:r>
              <a:rPr sz="1600"/>
              <a:t>▸ L_known：拉近同类样本与类中心</a:t>
            </a:r>
            <a:endParaRPr lang="zh-CN" altLang="en-US">
              <a:latin typeface="+mn-ea"/>
              <a:cs typeface="+mn-ea"/>
            </a:endParaRPr>
          </a:p>
          <a:p>
            <a:endParaRPr lang="zh-CN" altLang="en-US">
              <a:latin typeface="+mn-ea"/>
              <a:cs typeface="+mn-ea"/>
            </a:endParaRPr>
          </a:p>
          <a:p>
            <a:endParaRPr lang="zh-CN" altLang="en-US">
              <a:latin typeface="+mn-ea"/>
              <a:cs typeface="+mn-ea"/>
            </a:endParaRPr>
          </a:p>
          <a:p>
            <a:pPr algn="l"/>
            <a:r>
              <a:rPr sz="1600"/>
              <a:t>▸ L_unknown：推远未知样本与最近类中心</a:t>
            </a:r>
          </a:p>
          <a:p>
            <a:pPr algn="l"/>
          </a:p>
          <a:p>
            <a:pPr algn="ctr"/>
            <a:r>
              <a:rPr sz="1600"/>
              <a:t>L_contrast = 0.6×L_known + 0.4×L_unknown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6394"/>
            <p:custDataLst>
              <p:tags r:id="rId9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1"/>
            <p:custDataLst>
              <p:tags r:id="rId10"/>
            </p:custDataLst>
          </p:nvPr>
        </p:nvSpPr>
        <p:spPr>
          <a:xfrm>
            <a:off x="784225" y="4775835"/>
            <a:ext cx="1025525" cy="736600"/>
          </a:xfrm>
        </p:spPr>
        <p:txBody>
          <a:bodyPr/>
          <a:p>
            <a:r>
              <a:rPr lang="en-US" altLang="zh-CN"/>
              <a:t>03</a:t>
            </a:r>
            <a:endParaRPr lang="en-US" altLang="zh-CN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/>
            <p:custDataLst>
              <p:tags r:id="rId11"/>
            </p:custDataLst>
          </p:nvPr>
        </p:nvSpPr>
        <p:spPr>
          <a:xfrm>
            <a:off x="2082800" y="4918075"/>
            <a:ext cx="9194800" cy="1087120"/>
          </a:xfrm>
        </p:spPr>
        <p:txBody>
          <a:bodyPr>
            <a:noAutofit/>
          </a:bodyPr>
          <a:p>
            <a:pPr algn="l"/>
            <a:r>
              <a:rPr sz="1600"/>
              <a:t>▸ 三阶段动态调整损失权重</a:t>
            </a:r>
            <a:endParaRPr lang="zh-CN" altLang="en-US"/>
          </a:p>
          <a:p>
            <a:endParaRPr lang="zh-CN" altLang="en-US">
              <a:latin typeface="+mn-ea"/>
              <a:cs typeface="+mn-ea"/>
            </a:endParaRPr>
          </a:p>
          <a:p>
            <a:endParaRPr lang="zh-CN" altLang="en-US">
              <a:latin typeface="+mn-ea"/>
              <a:cs typeface="+mn-ea"/>
            </a:endParaRPr>
          </a:p>
          <a:p>
            <a:pPr algn="l"/>
            <a:r>
              <a:rPr sz="1400"/>
              <a:t>  阶段一(0-4)：分类+重构基础学习</a:t>
            </a:r>
          </a:p>
          <a:p>
            <a:pPr algn="l"/>
            <a:r>
              <a:rPr sz="1400"/>
              <a:t>  阶段二(5-19)：增强域对抗</a:t>
            </a:r>
          </a:p>
          <a:p>
            <a:pPr algn="l"/>
            <a:r>
              <a:rPr sz="1400"/>
              <a:t>  阶段三(20-34)：降低对抗，强化开放集</a:t>
            </a:r>
          </a:p>
          <a:p>
            <a:pPr algn="l"/>
          </a:p>
          <a:p>
            <a:pPr algn="l"/>
            <a:r>
              <a:rPr sz="1400"/>
              <a:t>▸ 梯度累积：模拟大批量，突破显存限制</a:t>
            </a:r>
          </a:p>
          <a:p>
            <a:pPr algn="l"/>
            <a:r>
              <a:rPr sz="1400"/>
              <a:t>▸ 梯度裁剪：防止训练不稳定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10235" y="2270760"/>
            <a:ext cx="14725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/>
              <a:t>滑动平均更新类中心</a:t>
            </a:r>
            <a:endParaRPr lang="zh-CN" altLang="en-US" sz="1600" b="1"/>
          </a:p>
        </p:txBody>
      </p:sp>
      <p:sp>
        <p:nvSpPr>
          <p:cNvPr id="13" name="文本框 12"/>
          <p:cNvSpPr txBox="1"/>
          <p:nvPr/>
        </p:nvSpPr>
        <p:spPr>
          <a:xfrm>
            <a:off x="610235" y="3891280"/>
            <a:ext cx="14725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/>
              <a:t>开放集对比损失</a:t>
            </a:r>
            <a:endParaRPr lang="zh-CN" altLang="en-US" sz="1600" b="1"/>
          </a:p>
        </p:txBody>
      </p:sp>
      <p:sp>
        <p:nvSpPr>
          <p:cNvPr id="14" name="文本框 13"/>
          <p:cNvSpPr txBox="1"/>
          <p:nvPr/>
        </p:nvSpPr>
        <p:spPr>
          <a:xfrm>
            <a:off x="609600" y="5511800"/>
            <a:ext cx="1473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/>
              <a:t>动态损失权重和工程优化</a:t>
            </a:r>
            <a:endParaRPr lang="zh-CN" altLang="en-US" sz="16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3" grpId="1" animBg="1" build="p"/>
      <p:bldP spid="4" grpId="1" build="p"/>
      <p:bldP spid="12" grpId="1"/>
      <p:bldP spid="5" grpId="1" build="p"/>
      <p:bldP spid="6" grpId="1" animBg="1" build="p"/>
      <p:bldP spid="7" grpId="1" build="p"/>
      <p:bldP spid="13" grpId="1"/>
      <p:bldP spid="8" grpId="1" build="p"/>
      <p:bldP spid="9" grpId="1" animBg="1" build="p"/>
      <p:bldP spid="10" grpId="1" build="p"/>
      <p:bldP spid="14" grpId="1"/>
      <p:bldP spid="11" grpI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2800"/>
              <a:t>四、实验设计与评估：</a:t>
            </a:r>
            <a:r>
              <a:rPr lang="zh-CN" altLang="en-US" sz="2800"/>
              <a:t>实验配置</a:t>
            </a:r>
            <a:endParaRPr lang="zh-CN" altLang="en-US" sz="28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 sz="1800" b="1"/>
              <a:t>实验环境</a:t>
            </a:r>
            <a:r>
              <a:rPr lang="zh-CN" altLang="en-US" sz="1800" b="1">
                <a:latin typeface="+mn-ea"/>
                <a:cs typeface="+mn-ea"/>
              </a:rPr>
              <a:t>：</a:t>
            </a:r>
            <a:r>
              <a:rPr lang="en-US" altLang="zh-CN" sz="1800">
                <a:latin typeface="+mn-ea"/>
                <a:cs typeface="+mn-ea"/>
              </a:rPr>
              <a:t>PyTorch</a:t>
            </a:r>
            <a:r>
              <a:rPr lang="zh-CN" altLang="en-US" sz="1800">
                <a:latin typeface="+mn-ea"/>
                <a:cs typeface="+mn-ea"/>
              </a:rPr>
              <a:t>框架，</a:t>
            </a:r>
            <a:r>
              <a:rPr lang="en-US" altLang="zh-CN" sz="1800">
                <a:latin typeface="+mn-ea"/>
                <a:cs typeface="+mn-ea"/>
              </a:rPr>
              <a:t>NVIDIA GPU</a:t>
            </a:r>
            <a:r>
              <a:rPr lang="zh-CN" altLang="en-US" sz="1800">
                <a:latin typeface="+mn-ea"/>
                <a:cs typeface="+mn-ea"/>
              </a:rPr>
              <a:t>等。</a:t>
            </a:r>
            <a:endParaRPr lang="zh-CN" altLang="en-US" sz="1800">
              <a:latin typeface="+mn-ea"/>
              <a:cs typeface="+mn-ea"/>
            </a:endParaRPr>
          </a:p>
          <a:p>
            <a:pPr marL="0" indent="0">
              <a:buNone/>
            </a:pPr>
            <a:r>
              <a:rPr lang="zh-CN" altLang="en-US" sz="1800" b="1">
                <a:latin typeface="+mn-ea"/>
                <a:cs typeface="+mn-ea"/>
              </a:rPr>
              <a:t>骨干网络：</a:t>
            </a:r>
            <a:r>
              <a:rPr lang="en-US" altLang="zh-CN" sz="1800">
                <a:latin typeface="+mn-ea"/>
                <a:cs typeface="+mn-ea"/>
              </a:rPr>
              <a:t>ConvNeXt-V2-Tiny</a:t>
            </a:r>
            <a:endParaRPr lang="en-US" altLang="zh-CN" sz="1800">
              <a:latin typeface="+mn-ea"/>
              <a:cs typeface="+mn-ea"/>
            </a:endParaRPr>
          </a:p>
          <a:p>
            <a:pPr marL="0" indent="0">
              <a:buNone/>
            </a:pPr>
            <a:r>
              <a:rPr lang="zh-CN" altLang="en-US" sz="1800" b="1">
                <a:latin typeface="+mn-ea"/>
                <a:cs typeface="+mn-ea"/>
              </a:rPr>
              <a:t>主要数据集：</a:t>
            </a:r>
            <a:endParaRPr lang="zh-CN" altLang="en-US" sz="1800" b="1">
              <a:latin typeface="+mn-ea"/>
              <a:cs typeface="+mn-ea"/>
            </a:endParaRPr>
          </a:p>
          <a:p>
            <a:pPr marL="457200" lvl="1" indent="0">
              <a:buNone/>
            </a:pPr>
            <a:r>
              <a:rPr lang="en-US" altLang="zh-CN" sz="1800" b="1">
                <a:solidFill>
                  <a:schemeClr val="tx1"/>
                </a:solidFill>
                <a:latin typeface="+mn-ea"/>
                <a:cs typeface="+mn-ea"/>
              </a:rPr>
              <a:t>DomainNet：</a:t>
            </a:r>
            <a:r>
              <a:rPr lang="en-US" altLang="zh-CN" sz="1800">
                <a:solidFill>
                  <a:schemeClr val="tx1"/>
                </a:solidFill>
                <a:latin typeface="+mn-ea"/>
                <a:cs typeface="+mn-ea"/>
              </a:rPr>
              <a:t>​ </a:t>
            </a:r>
            <a:r>
              <a:rPr lang="zh-CN" altLang="en-US" sz="1800">
                <a:solidFill>
                  <a:schemeClr val="tx1"/>
                </a:solidFill>
                <a:latin typeface="+mn-ea"/>
                <a:cs typeface="+mn-ea"/>
              </a:rPr>
              <a:t>源域（</a:t>
            </a:r>
            <a:r>
              <a:rPr lang="en-US" altLang="zh-CN" sz="1800">
                <a:solidFill>
                  <a:schemeClr val="tx1"/>
                </a:solidFill>
                <a:latin typeface="+mn-ea"/>
                <a:cs typeface="+mn-ea"/>
              </a:rPr>
              <a:t>Real），</a:t>
            </a:r>
            <a:r>
              <a:rPr lang="zh-CN" altLang="en-US" sz="1800">
                <a:solidFill>
                  <a:schemeClr val="tx1"/>
                </a:solidFill>
                <a:latin typeface="+mn-ea"/>
                <a:cs typeface="+mn-ea"/>
              </a:rPr>
              <a:t>目标域（</a:t>
            </a:r>
            <a:r>
              <a:rPr lang="en-US" altLang="zh-CN" sz="1800">
                <a:solidFill>
                  <a:schemeClr val="tx1"/>
                </a:solidFill>
                <a:latin typeface="+mn-ea"/>
                <a:cs typeface="+mn-ea"/>
              </a:rPr>
              <a:t>Clipart）</a:t>
            </a:r>
            <a:r>
              <a:rPr lang="zh-CN" altLang="en-US" sz="1800">
                <a:solidFill>
                  <a:schemeClr val="tx1"/>
                </a:solidFill>
                <a:latin typeface="+mn-ea"/>
                <a:cs typeface="+mn-ea"/>
              </a:rPr>
              <a:t>，共享类241类，未知类104类。</a:t>
            </a:r>
            <a:endParaRPr lang="zh-CN" altLang="en-US" sz="1800">
              <a:solidFill>
                <a:schemeClr val="tx1"/>
              </a:solidFill>
              <a:latin typeface="+mn-ea"/>
              <a:cs typeface="+mn-ea"/>
            </a:endParaRPr>
          </a:p>
          <a:p>
            <a:pPr marL="457200" lvl="1" indent="0">
              <a:buNone/>
            </a:pPr>
            <a:r>
              <a:rPr lang="en-US" altLang="zh-CN" sz="1800" b="1">
                <a:solidFill>
                  <a:schemeClr val="tx1"/>
                </a:solidFill>
                <a:latin typeface="+mn-ea"/>
                <a:cs typeface="+mn-ea"/>
              </a:rPr>
              <a:t>Office-Home：​ </a:t>
            </a:r>
            <a:r>
              <a:rPr lang="zh-CN" altLang="en-US" sz="1800">
                <a:solidFill>
                  <a:schemeClr val="tx1"/>
                </a:solidFill>
                <a:latin typeface="+mn-ea"/>
                <a:cs typeface="+mn-ea"/>
              </a:rPr>
              <a:t>四个子域，用于测试跨域泛化性。</a:t>
            </a:r>
            <a:endParaRPr lang="zh-CN" altLang="en-US" sz="1800">
              <a:solidFill>
                <a:schemeClr val="tx1"/>
              </a:solidFill>
              <a:latin typeface="+mn-ea"/>
              <a:cs typeface="+mn-ea"/>
            </a:endParaRPr>
          </a:p>
          <a:p>
            <a:pPr marL="457200" lvl="1" indent="0">
              <a:buNone/>
            </a:pPr>
            <a:r>
              <a:rPr lang="en-US" altLang="zh-CN" sz="1800" b="1">
                <a:solidFill>
                  <a:schemeClr val="tx1"/>
                </a:solidFill>
                <a:latin typeface="+mn-ea"/>
                <a:cs typeface="+mn-ea"/>
              </a:rPr>
              <a:t>VisDA：​</a:t>
            </a:r>
            <a:r>
              <a:rPr lang="en-US" altLang="zh-CN" sz="1800">
                <a:solidFill>
                  <a:schemeClr val="tx1"/>
                </a:solidFill>
                <a:latin typeface="+mn-ea"/>
                <a:cs typeface="+mn-ea"/>
              </a:rPr>
              <a:t> </a:t>
            </a:r>
            <a:r>
              <a:rPr lang="zh-CN" altLang="en-US" sz="1800">
                <a:solidFill>
                  <a:schemeClr val="tx1"/>
                </a:solidFill>
                <a:latin typeface="+mn-ea"/>
                <a:cs typeface="+mn-ea"/>
              </a:rPr>
              <a:t>大规模跨域数据集，用于验证鲁棒性。</a:t>
            </a:r>
            <a:endParaRPr lang="zh-CN" altLang="en-US" sz="1800">
              <a:solidFill>
                <a:schemeClr val="tx1"/>
              </a:solidFill>
              <a:latin typeface="+mn-ea"/>
              <a:cs typeface="+mn-ea"/>
            </a:endParaRPr>
          </a:p>
          <a:p>
            <a:pPr marL="0" lvl="0" indent="0">
              <a:buNone/>
            </a:pPr>
            <a:r>
              <a:rPr lang="zh-CN" altLang="en-US" sz="1800" b="1">
                <a:solidFill>
                  <a:schemeClr val="tx1"/>
                </a:solidFill>
                <a:latin typeface="+mn-ea"/>
                <a:cs typeface="+mn-ea"/>
              </a:rPr>
              <a:t>评价指标：</a:t>
            </a:r>
            <a:endParaRPr lang="zh-CN" altLang="en-US" sz="1800" b="1">
              <a:solidFill>
                <a:schemeClr val="tx1"/>
              </a:solidFill>
              <a:latin typeface="+mn-ea"/>
              <a:cs typeface="+mn-ea"/>
            </a:endParaRPr>
          </a:p>
          <a:p>
            <a:pPr marL="457200" lvl="1" indent="0">
              <a:buNone/>
            </a:pPr>
            <a:r>
              <a:rPr lang="zh-CN" altLang="en-US" sz="1800" b="1">
                <a:solidFill>
                  <a:schemeClr val="tx1"/>
                </a:solidFill>
                <a:latin typeface="+mn-ea"/>
                <a:cs typeface="+mn-ea"/>
              </a:rPr>
              <a:t>准确率 (</a:t>
            </a:r>
            <a:r>
              <a:rPr lang="en-US" altLang="zh-CN" sz="1800" b="1">
                <a:solidFill>
                  <a:schemeClr val="tx1"/>
                </a:solidFill>
                <a:latin typeface="+mn-ea"/>
                <a:cs typeface="+mn-ea"/>
              </a:rPr>
              <a:t>Accuracy)：</a:t>
            </a:r>
            <a:r>
              <a:rPr lang="zh-CN" altLang="en-US" sz="1800">
                <a:solidFill>
                  <a:schemeClr val="tx1"/>
                </a:solidFill>
                <a:latin typeface="+mn-ea"/>
                <a:cs typeface="+mn-ea"/>
              </a:rPr>
              <a:t>已知类的分类精度。</a:t>
            </a:r>
            <a:endParaRPr lang="zh-CN" altLang="en-US" sz="1800">
              <a:solidFill>
                <a:schemeClr val="tx1"/>
              </a:solidFill>
              <a:latin typeface="+mn-ea"/>
              <a:cs typeface="+mn-ea"/>
            </a:endParaRPr>
          </a:p>
          <a:p>
            <a:pPr marL="457200" lvl="1" indent="0">
              <a:buNone/>
            </a:pPr>
            <a:r>
              <a:rPr lang="en-US" altLang="zh-CN" sz="1800" b="1">
                <a:solidFill>
                  <a:schemeClr val="tx1"/>
                </a:solidFill>
                <a:latin typeface="+mn-ea"/>
                <a:cs typeface="+mn-ea"/>
              </a:rPr>
              <a:t>AUROC：</a:t>
            </a:r>
            <a:r>
              <a:rPr lang="zh-CN" altLang="en-US" sz="1800">
                <a:solidFill>
                  <a:schemeClr val="tx1"/>
                </a:solidFill>
                <a:latin typeface="+mn-ea"/>
                <a:cs typeface="+mn-ea"/>
              </a:rPr>
              <a:t>衡量未知类检测能力，越接近1越好。</a:t>
            </a:r>
            <a:endParaRPr lang="zh-CN" altLang="en-US" sz="1800">
              <a:solidFill>
                <a:schemeClr val="tx1"/>
              </a:solidFill>
              <a:latin typeface="+mn-ea"/>
              <a:cs typeface="+mn-ea"/>
            </a:endParaRPr>
          </a:p>
          <a:p>
            <a:pPr marL="457200" lvl="1" indent="0">
              <a:buNone/>
            </a:pPr>
            <a:r>
              <a:rPr lang="en-US" altLang="zh-CN" sz="1800" b="1">
                <a:solidFill>
                  <a:schemeClr val="tx1"/>
                </a:solidFill>
                <a:latin typeface="+mn-ea"/>
                <a:cs typeface="+mn-ea"/>
              </a:rPr>
              <a:t>H-score：</a:t>
            </a:r>
            <a:r>
              <a:rPr lang="zh-CN" altLang="en-US" sz="1800">
                <a:solidFill>
                  <a:schemeClr val="tx1"/>
                </a:solidFill>
                <a:latin typeface="+mn-ea"/>
                <a:cs typeface="+mn-ea"/>
              </a:rPr>
              <a:t>综合平衡已知类精度和未知类检出的指标。</a:t>
            </a:r>
            <a:endParaRPr lang="zh-CN" altLang="en-US" sz="1800">
              <a:solidFill>
                <a:schemeClr val="tx1"/>
              </a:solidFill>
              <a:latin typeface="+mn-ea"/>
              <a:cs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2800"/>
              <a:t>四、实验设计与评估：性能</a:t>
            </a:r>
            <a:r>
              <a:rPr lang="zh-CN" altLang="en-US" sz="2800"/>
              <a:t>表现</a:t>
            </a:r>
            <a:endParaRPr lang="zh-CN" altLang="en-US" sz="280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0000" y="1440000"/>
          <a:ext cx="7740000" cy="30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1620000"/>
                <a:gridCol w="1620000"/>
                <a:gridCol w="2700000"/>
              </a:tblGrid>
              <a:tr h="510000">
                <a:tc>
                  <a:txBody>
                    <a:bodyPr/>
                    <a:lstStyle/>
                    <a:p>
                      <a:r>
                        <a:rPr sz="1400"/>
                        <a:t>方法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VisDA已知准确率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VisDA H-score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DomainNet H-score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</a:tr>
              <a:tr h="510000">
                <a:tc>
                  <a:txBody>
                    <a:bodyPr/>
                    <a:lstStyle/>
                    <a:p>
                      <a:r>
                        <a:rPr sz="1400"/>
                        <a:t>Source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71.19%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81.50%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0000">
                <a:tc>
                  <a:txBody>
                    <a:bodyPr/>
                    <a:lstStyle/>
                    <a:p>
                      <a:r>
                        <a:rPr sz="1400"/>
                        <a:t>OSBP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71.42%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99.87%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-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  <a:tr h="510000">
                <a:tc>
                  <a:txBody>
                    <a:bodyPr/>
                    <a:lstStyle/>
                    <a:p>
                      <a:r>
                        <a:rPr sz="1400"/>
                        <a:t>UAN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18.08%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55.64%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0000">
                <a:tc>
                  <a:txBody>
                    <a:bodyPr/>
                    <a:lstStyle/>
                    <a:p>
                      <a:r>
                        <a:rPr sz="1400"/>
                        <a:t>Ours (Epoch15)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70.77%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86.43%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-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  <a:tr h="510000">
                <a:tc>
                  <a:txBody>
                    <a:bodyPr/>
                    <a:lstStyle/>
                    <a:p>
                      <a:r>
                        <a:rPr sz="1400"/>
                        <a:t>Ours (最终)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83.82%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80.72%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91.90%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0000" y="4680000"/>
            <a:ext cx="77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666666"/>
                </a:solidFill>
              </a:rPr>
              <a:t>注：DomainNet源域(Real)→目标域(Clipart)，VisDA源域(合成)→目标域(真实)。立项目标H-score≥65%, AUROC≥0.75，均已超额达成。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四、实验设计与评估：基线方法对比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1260000"/>
          <a:ext cx="7560000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/>
                <a:gridCol w="1440000"/>
                <a:gridCol w="1620000"/>
                <a:gridCol w="1440000"/>
                <a:gridCol w="1620000"/>
              </a:tblGrid>
              <a:tr h="480000">
                <a:tc gridSpan="4">
                  <a:txBody>
                    <a:bodyPr/>
                    <a:lstStyle/>
                    <a:p>
                      <a:pPr algn="ctr"/>
                      <a:r>
                        <a:rPr sz="1600"/>
                        <a:t>表格A：公平对比（同Epoch）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anchor="ctr">
                    <a:solidFill>
                      <a:srgbClr val="2F5496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anchor="ctr">
                    <a:solidFill>
                      <a:srgbClr val="2F5496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2F5496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r>
                        <a:rPr sz="1400"/>
                        <a:t>方法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Epoch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已知准确率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AUROC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r>
                        <a:rPr sz="1400"/>
                        <a:t>Source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15-20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71.19%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87.32%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r>
                        <a:rPr sz="1400"/>
                        <a:t>OSBP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15-20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71.42%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99.97%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E2EFDA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r>
                        <a:rPr b="0" sz="1400"/>
                        <a:t>Ours (Epoch 15)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400"/>
                        <a:t>15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400"/>
                        <a:t>70.77%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/>
                        <a:t>93.28%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900"/>
                        <a:t>同Epoch下AUROC最高，比Source Only高5.96个百分点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20000" y="4320000"/>
            <a:ext cx="756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/>
              <a:t>表格B：最终模型对比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200"/>
              </a:spcBef>
            </a:pPr>
          </a:p>
          <a:p>
            <a:pPr>
              <a:spcBef>
                <a:spcPts val="200"/>
              </a:spcBef>
            </a:pPr>
          </a:p>
          <a:p>
            <a:pPr>
              <a:spcBef>
                <a:spcPts val="200"/>
              </a:spcBef>
            </a:pPr>
          </a:p>
          <a:p>
            <a:pPr algn="l"/>
          </a:p>
          <a:p>
            <a:pPr algn="l"/>
            <a:r>
              <a:rPr sz="1400"/>
              <a:t>方法          Epoch    已知准确率</a:t>
            </a:r>
          </a:p>
          <a:p>
            <a:pPr algn="l"/>
            <a:r>
              <a:rPr sz="1400"/>
              <a:t>Source Only   15-20    71.19%</a:t>
            </a:r>
          </a:p>
          <a:p>
            <a:pPr algn="l"/>
            <a:r>
              <a:rPr sz="1400"/>
              <a:t>OSBP          15-20    71.42%</a:t>
            </a:r>
          </a:p>
          <a:p>
            <a:pPr algn="l"/>
            <a:r>
              <a:rPr sz="1400"/>
              <a:t>Ours (最终)   35       83.82%</a:t>
            </a:r>
          </a:p>
          <a:p>
            <a:pPr algn="l"/>
          </a:p>
          <a:p>
            <a:pPr algn="l"/>
            <a:r>
              <a:rPr sz="1600"/>
              <a:t>分析结论：</a:t>
            </a:r>
          </a:p>
          <a:p>
            <a:pPr algn="l"/>
            <a:r>
              <a:rPr b="0" sz="1400"/>
              <a:t>• 同Epoch对比：Ours的AUROC（</a:t>
            </a:r>
            <a:r>
              <a:rPr b="1" sz="1400"/>
              <a:t>93.28%</a:t>
            </a:r>
            <a:r>
              <a:rPr b="0" sz="1400"/>
              <a:t>）最优</a:t>
            </a:r>
          </a:p>
          <a:p>
            <a:pPr algn="l"/>
            <a:r>
              <a:rPr>
                <a:solidFill>
                  <a:schemeClr val="tx1"/>
                </a:solidFill>
              </a:rPr>
              <a:t>同Epoch下我们的AUROC最高，比Source Only高5.96个百分点</a:t>
            </a:r>
          </a:p>
          <a:p>
            <a:pPr algn="l"/>
            <a:r>
              <a:rPr sz="1400"/>
              <a:t>• 最终模型：已知准确率83.82%比Source Only高12.63%</a:t>
            </a:r>
          </a:p>
          <a:p>
            <a:pPr algn="l"/>
            <a:r>
              <a:rPr sz="1400"/>
              <a:t>• 在已知类识别（核心应用场景）方面具有显著优势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四、实验设计与评估：消融实验分析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1260000"/>
          <a:ext cx="756000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260000"/>
                <a:gridCol w="1260000"/>
                <a:gridCol w="1440000"/>
                <a:gridCol w="1620000"/>
              </a:tblGrid>
              <a:tr h="504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实验配置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AUROC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H-score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AUROC提升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贡献分析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微软雅黑"/>
                        </a:rPr>
                        <a:t>Baseline（仅Backbone）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00"/>
                        <a:t>58.07%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00"/>
                        <a:t>54.68%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微软雅黑"/>
                        </a:rPr>
                        <a:t>基础模型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微软雅黑"/>
                        </a:rPr>
                        <a:t>+ 特征解耦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00"/>
                        <a:t>59.61%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00"/>
                        <a:t>45.69%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8000"/>
                          </a:solidFill>
                          <a:latin typeface="微软雅黑"/>
                        </a:rPr>
                        <a:t>+2.65%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微软雅黑"/>
                        </a:rPr>
                        <a:t>距离分数增强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微软雅黑"/>
                        </a:rPr>
                        <a:t>+ VAE重构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00"/>
                        <a:t>59.74%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00"/>
                        <a:t>45.83%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8000"/>
                          </a:solidFill>
                          <a:latin typeface="微软雅黑"/>
                        </a:rPr>
                        <a:t>+2.88%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微软雅黑"/>
                        </a:rPr>
                        <a:t>重构误差辅助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微软雅黑"/>
                        </a:rPr>
                        <a:t>完整模型（四源融合）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/>
                        <a:t>86.19%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/>
                        <a:t>80.72%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8000"/>
                          </a:solidFill>
                          <a:latin typeface="微软雅黑"/>
                        </a:rPr>
                        <a:t>+48.41%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微软雅黑"/>
                        </a:rPr>
                        <a:t>四源融合显著提升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20000" y="3960000"/>
            <a:ext cx="756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消融实验结论：</a:t>
            </a:r>
          </a:p>
          <a:p>
            <a:pPr>
              <a:spcBef>
                <a:spcPts val="200"/>
              </a:spcBef>
            </a:pPr>
            <a:r>
              <a:rPr sz="900"/>
              <a:t>• 特征解耦和VAE重构单独使用提升有限，但为融合策略提供关键信号</a:t>
            </a:r>
          </a:p>
          <a:p>
            <a:pPr>
              <a:spcBef>
                <a:spcPts val="200"/>
              </a:spcBef>
            </a:pPr>
            <a:r>
              <a:rPr b="0" sz="1150"/>
              <a:t>• 四源融合策略带来质的飞跃，AUROC从59.74%跃升至86.19%（+48.41%）</a:t>
            </a:r>
          </a:p>
          <a:p>
            <a:pPr>
              <a:spcBef>
                <a:spcPts val="200"/>
              </a:spcBef>
            </a:pPr>
            <a:r>
              <a:rPr sz="900"/>
              <a:t>• 证明各模块协同工作才能发挥最大效能，单一模块不足以解决开放集域适应问题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105" y="398145"/>
            <a:ext cx="5126355" cy="1061720"/>
          </a:xfrm>
        </p:spPr>
        <p:txBody>
          <a:bodyPr/>
          <a:p>
            <a:r>
              <a:rPr lang="zh-CN" altLang="en-US" sz="2800">
                <a:sym typeface="+mn-ea"/>
              </a:rPr>
              <a:t>四、实验设计与评估：实验结果可视化分析（一）</a:t>
            </a:r>
            <a:endParaRPr lang="zh-CN" altLang="en-US" sz="2800"/>
          </a:p>
        </p:txBody>
      </p:sp>
      <p:pic>
        <p:nvPicPr>
          <p:cNvPr id="6" name="图片 6" descr="feature_tsne_known_classes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15050" y="995680"/>
            <a:ext cx="5876925" cy="48736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0000" y="5688000"/>
            <a:ext cx="792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666666"/>
                </a:solidFill>
              </a:rPr>
              <a:t>图：t-SNE特征分布可视化——源域与目标域已知类样本聚类，未知类有效分离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4" grpI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105" y="398145"/>
            <a:ext cx="5126355" cy="1061720"/>
          </a:xfrm>
        </p:spPr>
        <p:txBody>
          <a:bodyPr/>
          <a:p>
            <a:r>
              <a:rPr lang="zh-CN" altLang="en-US" sz="2800">
                <a:sym typeface="+mn-ea"/>
              </a:rPr>
              <a:t>四、实验设计与评估：实验结果可视化分析（</a:t>
            </a:r>
            <a:r>
              <a:rPr lang="zh-CN" altLang="en-US" sz="2800">
                <a:sym typeface="+mn-ea"/>
              </a:rPr>
              <a:t>二）</a:t>
            </a:r>
            <a:endParaRPr lang="zh-CN" altLang="en-US" sz="2800"/>
          </a:p>
        </p:txBody>
      </p:sp>
      <p:pic>
        <p:nvPicPr>
          <p:cNvPr id="5" name="图片 18" descr="accuracy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04840" y="1973580"/>
            <a:ext cx="6172200" cy="2900045"/>
          </a:xfrm>
          <a:prstGeom prst="rect">
            <a:avLst/>
          </a:prstGeom>
        </p:spPr>
      </p:pic>
      <p:pic>
        <p:nvPicPr>
          <p:cNvPr id="11" name="Picture 10" descr="fig4_training_curv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00" y="1260000"/>
            <a:ext cx="12250286" cy="432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0000" y="5688000"/>
            <a:ext cx="792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666666"/>
                </a:solidFill>
              </a:rPr>
              <a:t>图：训练过程曲线——左：验证集分类准确率；右：开放集检测AUROC与H-score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4" grpI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105" y="398145"/>
            <a:ext cx="5126355" cy="1061720"/>
          </a:xfrm>
        </p:spPr>
        <p:txBody>
          <a:bodyPr/>
          <a:p>
            <a:r>
              <a:rPr lang="zh-CN" altLang="en-US" sz="2800">
                <a:sym typeface="+mn-ea"/>
              </a:rPr>
              <a:t>四、实验设计与评估：实验结果可视化分析（</a:t>
            </a:r>
            <a:r>
              <a:rPr lang="zh-CN" altLang="en-US" sz="2800">
                <a:sym typeface="+mn-ea"/>
              </a:rPr>
              <a:t>三）</a:t>
            </a:r>
            <a:endParaRPr lang="zh-CN" altLang="en-US" sz="2800"/>
          </a:p>
        </p:txBody>
      </p:sp>
      <p:pic>
        <p:nvPicPr>
          <p:cNvPr id="19" name="图片 19" descr="openset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91530" y="1995805"/>
            <a:ext cx="6172200" cy="2856230"/>
          </a:xfrm>
          <a:prstGeom prst="rect">
            <a:avLst/>
          </a:prstGeom>
        </p:spPr>
      </p:pic>
      <p:pic>
        <p:nvPicPr>
          <p:cNvPr id="20" name="Picture 19" descr="fig3_baseline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00" y="1260000"/>
            <a:ext cx="6638034" cy="3960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0000" y="5400000"/>
            <a:ext cx="79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666666"/>
                </a:solidFill>
              </a:rPr>
              <a:t>图：基线方法对比——本发明在已知类准确率(83.82%)上显著优于Source Only(+12.63%)和UAN(+65.74%)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4" grpI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105" y="398145"/>
            <a:ext cx="5126355" cy="1061720"/>
          </a:xfrm>
        </p:spPr>
        <p:txBody>
          <a:bodyPr/>
          <a:p>
            <a:r>
              <a:rPr lang="zh-CN" altLang="en-US" sz="2800">
                <a:sym typeface="+mn-ea"/>
              </a:rPr>
              <a:t>四、实验设计与评估：训练过程与优化</a:t>
            </a:r>
            <a:r>
              <a:rPr lang="zh-CN" altLang="en-US" sz="2800">
                <a:sym typeface="+mn-ea"/>
              </a:rPr>
              <a:t>分析（</a:t>
            </a:r>
            <a:r>
              <a:rPr lang="zh-CN" altLang="en-US" sz="2800">
                <a:sym typeface="+mn-ea"/>
              </a:rPr>
              <a:t>一）</a:t>
            </a:r>
            <a:endParaRPr lang="zh-CN" altLang="en-US" sz="2800"/>
          </a:p>
        </p:txBody>
      </p:sp>
      <p:pic>
        <p:nvPicPr>
          <p:cNvPr id="22" name="图片 22" descr="loss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66460" y="1480185"/>
            <a:ext cx="6172200" cy="3886835"/>
          </a:xfrm>
          <a:prstGeom prst="rect">
            <a:avLst/>
          </a:prstGeom>
        </p:spPr>
      </p:pic>
      <p:pic>
        <p:nvPicPr>
          <p:cNvPr id="23" name="Picture 22" descr="fig2_ablation_stud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00" y="1260000"/>
            <a:ext cx="6660612" cy="3960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40000" y="5400000"/>
            <a:ext cx="79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666666"/>
                </a:solidFill>
              </a:rPr>
              <a:t>图：消融实验——特征解耦和VAE重构单独提升有限，四源融合带来质的飞跃(AUROC+48.41%)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4" grpI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105" y="398145"/>
            <a:ext cx="5126355" cy="1061720"/>
          </a:xfrm>
        </p:spPr>
        <p:txBody>
          <a:bodyPr/>
          <a:p>
            <a:r>
              <a:rPr lang="zh-CN" altLang="en-US" sz="2800">
                <a:sym typeface="+mn-ea"/>
              </a:rPr>
              <a:t>四、实验设计与评估：训练过程与优化</a:t>
            </a:r>
            <a:r>
              <a:rPr lang="zh-CN" altLang="en-US" sz="2800">
                <a:sym typeface="+mn-ea"/>
              </a:rPr>
              <a:t>分析（</a:t>
            </a:r>
            <a:r>
              <a:rPr lang="zh-CN" altLang="en-US" sz="2800">
                <a:sym typeface="+mn-ea"/>
              </a:rPr>
              <a:t>二）</a:t>
            </a:r>
            <a:endParaRPr lang="zh-CN" altLang="en-US" sz="2800"/>
          </a:p>
        </p:txBody>
      </p:sp>
      <p:pic>
        <p:nvPicPr>
          <p:cNvPr id="21" name="图片 21" descr="mse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66460" y="1967865"/>
            <a:ext cx="6172200" cy="2911475"/>
          </a:xfrm>
          <a:prstGeom prst="rect">
            <a:avLst/>
          </a:prstGeom>
        </p:spPr>
      </p:pic>
      <p:pic>
        <p:nvPicPr>
          <p:cNvPr id="22" name="Picture 21" descr="fig6_officehome_rad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00" y="1260000"/>
            <a:ext cx="4605620" cy="39600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40000" y="5400000"/>
            <a:ext cx="79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400"/>
              <a:t>图：Office-Home四域泛化验证——四域AUROC均达67%-74%，未知类召回率稳定在76%-80%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4" grpI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105" y="593725"/>
            <a:ext cx="3931920" cy="853440"/>
          </a:xfrm>
        </p:spPr>
        <p:txBody>
          <a:bodyPr/>
          <a:p>
            <a:r>
              <a:rPr lang="zh-CN" altLang="en-US"/>
              <a:t>五、项目成果与</a:t>
            </a:r>
            <a:r>
              <a:rPr lang="zh-CN" altLang="en-US"/>
              <a:t>总结</a:t>
            </a:r>
            <a:endParaRPr lang="zh-CN" altLang="en-US"/>
          </a:p>
        </p:txBody>
      </p:sp>
      <p:pic>
        <p:nvPicPr>
          <p:cNvPr id="6" name="图片占位符 5" descr="受通--基于特征解耦与数据重构的开放集域适应方法_01"/>
          <p:cNvPicPr>
            <a:picLocks noChangeAspect="1"/>
          </p:cNvPicPr>
          <p:nvPr>
            <p:ph type="pic" idx="1"/>
          </p:nvPr>
        </p:nvPicPr>
        <p:blipFill>
          <a:blip r:embed="rId2"/>
          <a:stretch>
            <a:fillRect/>
          </a:stretch>
        </p:blipFill>
        <p:spPr>
          <a:xfrm>
            <a:off x="6546215" y="987425"/>
            <a:ext cx="3445510" cy="4873625"/>
          </a:xfrm>
          <a:prstGeom prst="rect">
            <a:avLst/>
          </a:prstGeom>
        </p:spPr>
      </p:pic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8650" y="1684020"/>
            <a:ext cx="5187950" cy="4881880"/>
          </a:xfrm>
        </p:spPr>
        <p:txBody>
          <a:bodyPr>
            <a:normAutofit/>
          </a:bodyPr>
          <a:p>
            <a:pPr algn="l"/>
            <a:r>
              <a:rPr sz="2200">
                <a:solidFill>
                  <a:srgbClr val="1565C0"/>
                </a:solidFill>
              </a:rPr>
              <a:t>核心成果</a:t>
            </a:r>
            <a:endParaRPr lang="zh-CN" altLang="en-US" sz="1800">
              <a:latin typeface="+mn-ea"/>
              <a:cs typeface="+mn-ea"/>
            </a:endParaRPr>
          </a:p>
          <a:p>
            <a:pPr marL="457200" lvl="1" indent="0">
              <a:buNone/>
            </a:pPr>
            <a:endParaRPr lang="zh-CN" altLang="en-US" sz="1800">
              <a:solidFill>
                <a:schemeClr val="tx1"/>
              </a:solidFill>
              <a:latin typeface="+mn-ea"/>
              <a:cs typeface="+mn-ea"/>
            </a:endParaRPr>
          </a:p>
          <a:p>
            <a:pPr marL="457200" lvl="1" indent="0">
              <a:buNone/>
            </a:pPr>
            <a:endParaRPr lang="zh-CN" altLang="en-US" sz="1800">
              <a:solidFill>
                <a:schemeClr val="tx1"/>
              </a:solidFill>
              <a:latin typeface="+mn-ea"/>
              <a:cs typeface="+mn-ea"/>
            </a:endParaRPr>
          </a:p>
          <a:p>
            <a:pPr marL="457200" lvl="1" indent="0">
              <a:buNone/>
            </a:pPr>
            <a:endParaRPr lang="zh-CN" altLang="en-US" sz="1800">
              <a:solidFill>
                <a:schemeClr val="tx1"/>
              </a:solidFill>
              <a:latin typeface="+mn-ea"/>
              <a:cs typeface="+mn-ea"/>
            </a:endParaRPr>
          </a:p>
          <a:p>
            <a:pPr marL="0" lvl="0" indent="0">
              <a:buNone/>
            </a:pPr>
            <a:endParaRPr lang="zh-CN" altLang="en-US" sz="1800" b="1">
              <a:solidFill>
                <a:schemeClr val="tx1"/>
              </a:solidFill>
              <a:latin typeface="+mn-ea"/>
              <a:cs typeface="+mn-ea"/>
            </a:endParaRPr>
          </a:p>
          <a:p>
            <a:pPr marL="457200" lvl="1" indent="0">
              <a:buNone/>
            </a:pPr>
            <a:endParaRPr lang="zh-CN" altLang="en-US" sz="1800">
              <a:solidFill>
                <a:schemeClr val="tx1"/>
              </a:solidFill>
              <a:latin typeface="+mn-ea"/>
              <a:cs typeface="+mn-ea"/>
            </a:endParaRPr>
          </a:p>
          <a:p>
            <a:pPr marL="457200" lvl="1" indent="0">
              <a:buNone/>
            </a:pPr>
            <a:endParaRPr lang="zh-CN" altLang="en-US" sz="1800">
              <a:solidFill>
                <a:schemeClr val="tx1"/>
              </a:solidFill>
              <a:latin typeface="+mn-ea"/>
              <a:cs typeface="+mn-ea"/>
            </a:endParaRPr>
          </a:p>
          <a:p>
            <a:pPr marL="457200" lvl="1" indent="0">
              <a:buNone/>
            </a:pPr>
            <a:endParaRPr lang="zh-CN" altLang="en-US" sz="1800">
              <a:solidFill>
                <a:schemeClr val="tx1"/>
              </a:solidFill>
              <a:latin typeface="+mn-ea"/>
              <a:cs typeface="+mn-ea"/>
            </a:endParaRPr>
          </a:p>
          <a:p>
            <a:pPr marL="457200" lvl="1" indent="0">
              <a:buNone/>
            </a:pPr>
            <a:endParaRPr lang="zh-CN" altLang="en-US" sz="1800">
              <a:solidFill>
                <a:schemeClr val="tx1"/>
              </a:solidFill>
              <a:latin typeface="+mn-ea"/>
              <a:cs typeface="+mn-ea"/>
            </a:endParaRPr>
          </a:p>
          <a:p>
            <a:pPr algn="l"/>
          </a:p>
          <a:p>
            <a:pPr algn="l"/>
          </a:p>
          <a:p>
            <a:pPr algn="l"/>
          </a:p>
          <a:p>
            <a:pPr algn="l"/>
          </a:p>
          <a:p>
            <a:pPr algn="l"/>
          </a:p>
          <a:p>
            <a:pPr algn="l"/>
          </a:p>
          <a:p>
            <a:pPr algn="l"/>
          </a:p>
          <a:p>
            <a:pPr algn="l"/>
          </a:p>
          <a:p>
            <a:pPr algn="l"/>
          </a:p>
          <a:p>
            <a:pPr algn="l"/>
          </a:p>
          <a:p>
            <a:pPr algn="l"/>
          </a:p>
          <a:p>
            <a:pPr algn="l"/>
          </a:p>
          <a:p>
            <a:pPr algn="l"/>
          </a:p>
          <a:p>
            <a:pPr algn="l"/>
          </a:p>
          <a:p>
            <a:pPr algn="l"/>
          </a:p>
          <a:p>
            <a:pPr algn="l"/>
          </a:p>
          <a:p>
            <a:pPr algn="l"/>
          </a:p>
          <a:p>
            <a:pPr algn="l"/>
          </a:p>
          <a:p>
            <a:pPr algn="l"/>
            <a:r>
              <a:rPr sz="1800"/>
              <a:t>✅ 发明专利已受理（202610279677.6）</a:t>
            </a:r>
          </a:p>
          <a:p>
            <a:pPr algn="l"/>
          </a:p>
          <a:p>
            <a:pPr algn="l"/>
            <a:r>
              <a:rPr sz="1600"/>
              <a:t>✅ 已知类准确率 83.82%（VisDA）</a:t>
            </a:r>
          </a:p>
          <a:p>
            <a:pPr algn="l"/>
          </a:p>
          <a:p>
            <a:pPr algn="l"/>
            <a:r>
              <a:rPr sz="1600"/>
              <a:t>✅ AUROC 93.28%（同Epoch对比最优）</a:t>
            </a:r>
          </a:p>
          <a:p>
            <a:pPr algn="l"/>
          </a:p>
          <a:p>
            <a:pPr algn="l"/>
            <a:r>
              <a:rPr sz="1600"/>
              <a:t>✅ 所有指标超额达成立项目标</a:t>
            </a:r>
          </a:p>
          <a:p>
            <a:pPr algn="l"/>
            <a:r>
              <a:rPr sz="1400"/>
              <a:t>   - 准确率: 83.82% &gt; 76.5%</a:t>
            </a:r>
          </a:p>
          <a:p>
            <a:pPr algn="l"/>
            <a:r>
              <a:rPr b="0" sz="1778"/>
              <a:t>   - AUROC: 93.28% &gt; 75%</a:t>
            </a:r>
          </a:p>
          <a:p>
            <a:pPr algn="l"/>
            <a:r>
              <a:rPr sz="1400"/>
              <a:t>   - H-score: 80.72% &gt; 65%</a:t>
            </a:r>
          </a:p>
          <a:p>
            <a:pPr algn="l"/>
          </a:p>
          <a:p>
            <a:pPr algn="l"/>
            <a:r>
              <a:rPr sz="2200">
                <a:solidFill>
                  <a:srgbClr val="1565C0"/>
                </a:solidFill>
              </a:rPr>
              <a:t>后续计划</a:t>
            </a:r>
          </a:p>
          <a:p>
            <a:pPr algn="l"/>
          </a:p>
          <a:p>
            <a:pPr algn="l"/>
            <a:r>
              <a:rPr sz="1600"/>
              <a:t>▸ 少样本OSDA研究 → 降低数据依赖</a:t>
            </a:r>
          </a:p>
          <a:p>
            <a:pPr algn="l"/>
            <a:r>
              <a:rPr sz="1600"/>
              <a:t>▸ 模型轻量化 → 边缘设备部署</a:t>
            </a:r>
          </a:p>
          <a:p>
            <a:pPr algn="l"/>
            <a:r>
              <a:rPr sz="1600"/>
              <a:t>▸ 真实场景验证 → 自动驾驶/医疗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3729c5df993cbfd84b2871ad89b345b9612db0c"/>
  <p:tag name="KSO_WM_NEWLAYOUT_ID" val="slide_a81418525f254632"/>
</p:tagLst>
</file>

<file path=ppt/tags/tag2.xml><?xml version="1.0" encoding="utf-8"?>
<p:tagLst xmlns:p="http://schemas.openxmlformats.org/presentationml/2006/main">
  <p:tag name="KSO_WM_FIGMA_DECORATION_INDEX" val="18"/>
  <p:tag name="$PH_EXT" val="2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</p:tagLst>
</file>

<file path=ppt/tags/tag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1_3"/>
  <p:tag name="KSO_WM_UNIT_SUBTYPE" val="d"/>
  <p:tag name="KSO_WM_UNIT_TYPE" val="l_h_i"/>
</p:tagLst>
</file>

<file path=ppt/tags/tag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2_3"/>
  <p:tag name="KSO_WM_UNIT_SUBTYPE" val="d"/>
  <p:tag name="KSO_WM_UNIT_TYPE" val="l_h_i"/>
</p:tagLst>
</file>

<file path=ppt/tags/tag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3_3"/>
  <p:tag name="KSO_WM_UNIT_SUBTYPE" val="d"/>
  <p:tag name="KSO_WM_UNIT_TYPE" val="l_h_i"/>
</p:tagLst>
</file>

<file path=ppt/tags/tag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0266c36a6527553fce379d354fc32c381844a7a"/>
  <p:tag name="KSO_WM_NEWLAYOUT_ID" val="slide_7986a09e498dbba3"/>
</p:tagLst>
</file>

<file path=ppt/tags/tag1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1_3"/>
  <p:tag name="KSO_WM_UNIT_SUBTYPE" val="d"/>
  <p:tag name="KSO_WM_UNIT_TYPE" val="l_h_i"/>
</p:tagLst>
</file>

<file path=ppt/tags/tag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2_3"/>
  <p:tag name="KSO_WM_UNIT_SUBTYPE" val="d"/>
  <p:tag name="KSO_WM_UNIT_TYPE" val="l_h_i"/>
</p:tagLst>
</file>

<file path=ppt/tags/tag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3_3"/>
  <p:tag name="KSO_WM_UNIT_SUBTYPE" val="d"/>
  <p:tag name="KSO_WM_UNIT_TYPE" val="l_h_i"/>
</p:tagLst>
</file>

<file path=ppt/tags/tag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4_3"/>
  <p:tag name="KSO_WM_UNIT_SUBTYPE" val="d"/>
  <p:tag name="KSO_WM_UNIT_TYPE" val="l_h_i"/>
</p:tagLst>
</file>

<file path=ppt/tags/tag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2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741a1409582a1fac9692e16df91aea2f542cc8f"/>
  <p:tag name="KSO_WM_NEWLAYOUT_ID" val="slide_0bd4e345772c5aa4"/>
</p:tagLst>
</file>

<file path=ppt/tags/tag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0266c36a6527553fce379d354fc32c381844a7a"/>
  <p:tag name="KSO_WM_NEWLAYOUT_ID" val="slide_7986a09e498dbba3"/>
</p:tagLst>
</file>

<file path=ppt/tags/tag32.xml><?xml version="1.0" encoding="utf-8"?>
<p:tagLst xmlns:p="http://schemas.openxmlformats.org/presentationml/2006/main">
  <p:tag name="KSO_WM_FIGMA_DECORATION_INDEX" val="18"/>
  <p:tag name="$PH_EXT" val="2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</p:tagLst>
</file>

<file path=ppt/tags/tag33.xml><?xml version="1.0" encoding="utf-8"?>
<p:tagLst xmlns:p="http://schemas.openxmlformats.org/presentationml/2006/main">
  <p:tag name="KSO_WM_DIAGRAM_GROUP_CODE" val="1"/>
  <p:tag name="KSO_WM_FIGMA_FLAG" val="#fgm#"/>
  <p:tag name="KSO_WM_SYNC_SLIDE_TEXT" val="1"/>
  <p:tag name="KSO_WM_UNIT_SUBTYPE" val="d"/>
</p:tagLst>
</file>

<file path=ppt/tags/tag34.xml><?xml version="1.0" encoding="utf-8"?>
<p:tagLst xmlns:p="http://schemas.openxmlformats.org/presentationml/2006/main">
  <p:tag name="KSO_WM_DIAGRAM_GROUP_CODE" val="1"/>
  <p:tag name="KSO_WM_FIGMA_FLAG" val="#fgm#"/>
</p:tagLst>
</file>

<file path=ppt/tags/tag35.xml><?xml version="1.0" encoding="utf-8"?>
<p:tagLst xmlns:p="http://schemas.openxmlformats.org/presentationml/2006/main">
  <p:tag name="KSO_WM_FIGMA_DECORATION_INDEX" val="18"/>
  <p:tag name="$PH_EXT" val="2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</p:tagLst>
</file>

<file path=ppt/tags/tag36.xml><?xml version="1.0" encoding="utf-8"?>
<p:tagLst xmlns:p="http://schemas.openxmlformats.org/presentationml/2006/main">
  <p:tag name="KSO_WM_DIAGRAM_GROUP_CODE" val="1"/>
  <p:tag name="KSO_WM_FIGMA_FLAG" val="#fgm#"/>
  <p:tag name="KSO_WM_SYNC_SLIDE_TEXT" val="1"/>
  <p:tag name="KSO_WM_UNIT_SUBTYPE" val="d"/>
</p:tagLst>
</file>

<file path=ppt/tags/tag37.xml><?xml version="1.0" encoding="utf-8"?>
<p:tagLst xmlns:p="http://schemas.openxmlformats.org/presentationml/2006/main">
  <p:tag name="KSO_WM_DIAGRAM_GROUP_CODE" val="1"/>
  <p:tag name="KSO_WM_FIGMA_FLAG" val="#fgm#"/>
</p:tagLst>
</file>

<file path=ppt/tags/tag38.xml><?xml version="1.0" encoding="utf-8"?>
<p:tagLst xmlns:p="http://schemas.openxmlformats.org/presentationml/2006/main">
  <p:tag name="KSO_WM_FIGMA_DECORATION_INDEX" val="18"/>
  <p:tag name="$PH_EXT" val="2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</p:tagLst>
</file>

<file path=ppt/tags/tag39.xml><?xml version="1.0" encoding="utf-8"?>
<p:tagLst xmlns:p="http://schemas.openxmlformats.org/presentationml/2006/main">
  <p:tag name="KSO_WM_DIAGRAM_GROUP_CODE" val="1"/>
  <p:tag name="KSO_WM_FIGMA_FLAG" val="#fgm#"/>
  <p:tag name="KSO_WM_SYNC_SLIDE_TEXT" val="1"/>
  <p:tag name="KSO_WM_UNIT_SUBTYPE" val="d"/>
</p:tagLst>
</file>

<file path=ppt/tags/tag40.xml><?xml version="1.0" encoding="utf-8"?>
<p:tagLst xmlns:p="http://schemas.openxmlformats.org/presentationml/2006/main">
  <p:tag name="KSO_WM_DIAGRAM_GROUP_CODE" val="1"/>
  <p:tag name="KSO_WM_FIGMA_FLAG" val="#fgm#"/>
</p:tagLst>
</file>

<file path=ppt/tags/tag41.xml><?xml version="1.0" encoding="utf-8"?>
<p:tagLst xmlns:p="http://schemas.openxmlformats.org/presentationml/2006/main">
  <p:tag name="KSO_WM_FIGMA_DECORATION_INDEX" val="18"/>
  <p:tag name="$PH_EXT" val="2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</p:tagLst>
</file>

<file path=ppt/tags/tag42.xml><?xml version="1.0" encoding="utf-8"?>
<p:tagLst xmlns:p="http://schemas.openxmlformats.org/presentationml/2006/main">
  <p:tag name="KSO_WM_DIAGRAM_GROUP_CODE" val="1"/>
  <p:tag name="KSO_WM_FIGMA_FLAG" val="#fgm#"/>
  <p:tag name="KSO_WM_SYNC_SLIDE_TEXT" val="1"/>
  <p:tag name="KSO_WM_UNIT_SUBTYPE" val="d"/>
</p:tagLst>
</file>

<file path=ppt/tags/tag43.xml><?xml version="1.0" encoding="utf-8"?>
<p:tagLst xmlns:p="http://schemas.openxmlformats.org/presentationml/2006/main">
  <p:tag name="KSO_WM_DIAGRAM_GROUP_CODE" val="1"/>
  <p:tag name="KSO_WM_FIGMA_FLAG" val="#fgm#"/>
</p:tagLst>
</file>

<file path=ppt/tags/tag44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SLIDE_ID" val="slide_7986a09e498dbba3"/>
</p:tagLst>
</file>

<file path=ppt/tags/tag4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3729c5df993cbfd84b2871ad89b345b9612db0c"/>
  <p:tag name="KSO_WM_NEWLAYOUT_ID" val="slide_a81418525f254632"/>
</p:tagLst>
</file>

<file path=ppt/tags/tag46.xml><?xml version="1.0" encoding="utf-8"?>
<p:tagLst xmlns:p="http://schemas.openxmlformats.org/presentationml/2006/main">
  <p:tag name="KSO_WM_FIGMA_DECORATION_INDEX" val="18"/>
  <p:tag name="$PH_EXT" val="2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</p:tagLst>
</file>

<file path=ppt/tags/tag47.xml><?xml version="1.0" encoding="utf-8"?>
<p:tagLst xmlns:p="http://schemas.openxmlformats.org/presentationml/2006/main">
  <p:tag name="KSO_WM_DIAGRAM_GROUP_CODE" val="1"/>
  <p:tag name="KSO_WM_FIGMA_FLAG" val="#fgm#"/>
  <p:tag name="KSO_WM_SYNC_SLIDE_TEXT" val="1"/>
  <p:tag name="KSO_WM_UNIT_SUBTYPE" val="d"/>
</p:tagLst>
</file>

<file path=ppt/tags/tag48.xml><?xml version="1.0" encoding="utf-8"?>
<p:tagLst xmlns:p="http://schemas.openxmlformats.org/presentationml/2006/main">
  <p:tag name="KSO_WM_DIAGRAM_GROUP_CODE" val="1"/>
  <p:tag name="KSO_WM_FIGMA_FLAG" val="#fgm#"/>
</p:tagLst>
</file>

<file path=ppt/tags/tag49.xml><?xml version="1.0" encoding="utf-8"?>
<p:tagLst xmlns:p="http://schemas.openxmlformats.org/presentationml/2006/main">
  <p:tag name="KSO_WM_FIGMA_DECORATION_INDEX" val="18"/>
  <p:tag name="$PH_EXT" val="2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</p:tagLst>
</file>

<file path=ppt/tags/tag50.xml><?xml version="1.0" encoding="utf-8"?>
<p:tagLst xmlns:p="http://schemas.openxmlformats.org/presentationml/2006/main">
  <p:tag name="KSO_WM_DIAGRAM_GROUP_CODE" val="1"/>
  <p:tag name="KSO_WM_FIGMA_FLAG" val="#fgm#"/>
  <p:tag name="KSO_WM_SYNC_SLIDE_TEXT" val="1"/>
  <p:tag name="KSO_WM_UNIT_SUBTYPE" val="d"/>
</p:tagLst>
</file>

<file path=ppt/tags/tag51.xml><?xml version="1.0" encoding="utf-8"?>
<p:tagLst xmlns:p="http://schemas.openxmlformats.org/presentationml/2006/main">
  <p:tag name="KSO_WM_DIAGRAM_GROUP_CODE" val="1"/>
  <p:tag name="KSO_WM_FIGMA_FLAG" val="#fgm#"/>
</p:tagLst>
</file>

<file path=ppt/tags/tag52.xml><?xml version="1.0" encoding="utf-8"?>
<p:tagLst xmlns:p="http://schemas.openxmlformats.org/presentationml/2006/main">
  <p:tag name="KSO_WM_FIGMA_DECORATION_INDEX" val="18"/>
  <p:tag name="$PH_EXT" val="2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</p:tagLst>
</file>

<file path=ppt/tags/tag53.xml><?xml version="1.0" encoding="utf-8"?>
<p:tagLst xmlns:p="http://schemas.openxmlformats.org/presentationml/2006/main">
  <p:tag name="KSO_WM_DIAGRAM_GROUP_CODE" val="1"/>
  <p:tag name="KSO_WM_FIGMA_FLAG" val="#fgm#"/>
  <p:tag name="KSO_WM_SYNC_SLIDE_TEXT" val="1"/>
  <p:tag name="KSO_WM_UNIT_SUBTYPE" val="d"/>
</p:tagLst>
</file>

<file path=ppt/tags/tag54.xml><?xml version="1.0" encoding="utf-8"?>
<p:tagLst xmlns:p="http://schemas.openxmlformats.org/presentationml/2006/main">
  <p:tag name="KSO_WM_DIAGRAM_GROUP_CODE" val="1"/>
  <p:tag name="KSO_WM_FIGMA_FLAG" val="#fgm#"/>
</p:tagLst>
</file>

<file path=ppt/tags/tag55.xml><?xml version="1.0" encoding="utf-8"?>
<p:tagLst xmlns:p="http://schemas.openxmlformats.org/presentationml/2006/main">
  <p:tag name="TABLE_ENDDRAG_ORIGIN_RECT" val="821*255"/>
  <p:tag name="TABLE_ENDDRAG_RECT" val="66*107*821*255"/>
</p:tagLst>
</file>

<file path=ppt/tags/tag56.xml><?xml version="1.0" encoding="utf-8"?>
<p:tagLst xmlns:p="http://schemas.openxmlformats.org/presentationml/2006/main">
  <p:tag name="COMMONDATA" val="eyJoZGlkIjoiMzY4YTJlMmNlNWE2ZGM0ODQwMzYyNzAxZjc1ZDY5M2MifQ=="/>
</p:tagLst>
</file>

<file path=ppt/theme/theme1.xml><?xml version="1.0" encoding="utf-8"?>
<a:theme xmlns:a="http://schemas.openxmlformats.org/drawingml/2006/main" name="WPS">
  <a:themeElements>
    <a:clrScheme name="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0000"/>
      </a:hlink>
      <a:folHlink>
        <a:srgbClr val="000000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  <a:extLst>
      <a:ext uri="{D81B5157-A7B6-4480-A006-42BB1BC3E7BB}">
        <wpsdc:hlinkScheme xmlns:wpsdc="http://www.wps.cn/officeDocument/2017/drawingmlCustomData" underline="false"/>
      </a:ext>
    </a:extLst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3226</Words>
  <Application>WPS 演示</Application>
  <PresentationFormat>宽屏</PresentationFormat>
  <Paragraphs>211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Arial</vt:lpstr>
      <vt:lpstr>宋体</vt:lpstr>
      <vt:lpstr>Wingdings</vt:lpstr>
      <vt:lpstr>Wingdings</vt:lpstr>
      <vt:lpstr>微软雅黑</vt:lpstr>
      <vt:lpstr>Calibri</vt:lpstr>
      <vt:lpstr>Arial Unicode MS</vt:lpstr>
      <vt:lpstr>WPS</vt:lpstr>
      <vt:lpstr>基于特征解耦与数据重构的开放集域适应方法</vt:lpstr>
      <vt:lpstr>目录</vt:lpstr>
      <vt:lpstr>一、项目背景与意义</vt:lpstr>
      <vt:lpstr>二、核心问题与挑战</vt:lpstr>
      <vt:lpstr>三、解决方案：总体框架</vt:lpstr>
      <vt:lpstr>三、技术创新点（一）：动态域对抗与特征解耦</vt:lpstr>
      <vt:lpstr>三、技术创新点（二）：多源融合开放集检测</vt:lpstr>
      <vt:lpstr>三、技术创新点（三）：VAE重构模块</vt:lpstr>
      <vt:lpstr>三、技术创新点（四）：协同优化的训练策略</vt:lpstr>
      <vt:lpstr>四、实验设计与评估：实验配置</vt:lpstr>
      <vt:lpstr>四、实验设计与评估：性能表现</vt:lpstr>
      <vt:lpstr>四、实验设计与评估：实验结果可视化分析（一）</vt:lpstr>
      <vt:lpstr>四、实验设计与评估：实验结果可视化分析（二）</vt:lpstr>
      <vt:lpstr>四、实验设计与评估：实验结果可视化分析（三）</vt:lpstr>
      <vt:lpstr>四、实验设计与评估：训练过程与优化分析（一）</vt:lpstr>
      <vt:lpstr>四、实验设计与评估：训练过程与优化分析（二）</vt:lpstr>
      <vt:lpstr>五、项目成果与总结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周昀</dc:creator>
  <cp:lastModifiedBy>WPS_1696895864</cp:lastModifiedBy>
  <cp:revision>18</cp:revision>
  <dcterms:created xsi:type="dcterms:W3CDTF">2023-08-09T12:44:00Z</dcterms:created>
  <dcterms:modified xsi:type="dcterms:W3CDTF">2026-05-12T04:19:24Z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2052-11.1.0.14252</vt:lpwstr>
  </property>
  <property fmtid="{D5CDD505-2E9C-101B-9397-08002B2CF9AE}" pid="3" name="ICV">
    <vt:lpwstr>BA7760F7A9CC407C976DFF0A9856B02F_12</vt:lpwstr>
  </property>
</Properties>
</file>